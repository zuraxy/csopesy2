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l Matthew Dela Cruz" userId="afd7fbc795c46ad9" providerId="LiveId" clId="{EABCF3CB-BEF9-4392-88E4-05668A4331AB}"/>
    <pc:docChg chg="custSel modSld">
      <pc:chgData name="Karl Matthew Dela Cruz" userId="afd7fbc795c46ad9" providerId="LiveId" clId="{EABCF3CB-BEF9-4392-88E4-05668A4331AB}" dt="2026-09-28T07:29:18.612" v="174" actId="20577"/>
      <pc:docMkLst>
        <pc:docMk/>
      </pc:docMkLst>
      <pc:sldChg chg="modSp mod">
        <pc:chgData name="Karl Matthew Dela Cruz" userId="afd7fbc795c46ad9" providerId="LiveId" clId="{EABCF3CB-BEF9-4392-88E4-05668A4331AB}" dt="2026-09-28T07:28:38.494" v="118" actId="1076"/>
        <pc:sldMkLst>
          <pc:docMk/>
          <pc:sldMk cId="54068130" sldId="258"/>
        </pc:sldMkLst>
        <pc:spChg chg="mod">
          <ac:chgData name="Karl Matthew Dela Cruz" userId="afd7fbc795c46ad9" providerId="LiveId" clId="{EABCF3CB-BEF9-4392-88E4-05668A4331AB}" dt="2026-09-28T07:28:33.401" v="117" actId="20577"/>
          <ac:spMkLst>
            <pc:docMk/>
            <pc:sldMk cId="54068130" sldId="258"/>
            <ac:spMk id="4" creationId="{FAE34C49-D143-485E-8838-0CDCB9F85848}"/>
          </ac:spMkLst>
        </pc:spChg>
        <pc:spChg chg="mod">
          <ac:chgData name="Karl Matthew Dela Cruz" userId="afd7fbc795c46ad9" providerId="LiveId" clId="{EABCF3CB-BEF9-4392-88E4-05668A4331AB}" dt="2026-09-28T07:28:38.494" v="118" actId="1076"/>
          <ac:spMkLst>
            <pc:docMk/>
            <pc:sldMk cId="54068130" sldId="258"/>
            <ac:spMk id="5" creationId="{8CA17FB6-71D5-41CD-B890-61BE47ED77B7}"/>
          </ac:spMkLst>
        </pc:spChg>
      </pc:sldChg>
      <pc:sldChg chg="modSp mod">
        <pc:chgData name="Karl Matthew Dela Cruz" userId="afd7fbc795c46ad9" providerId="LiveId" clId="{EABCF3CB-BEF9-4392-88E4-05668A4331AB}" dt="2026-09-28T07:29:18.612" v="174" actId="20577"/>
        <pc:sldMkLst>
          <pc:docMk/>
          <pc:sldMk cId="1820574644" sldId="260"/>
        </pc:sldMkLst>
        <pc:spChg chg="mod">
          <ac:chgData name="Karl Matthew Dela Cruz" userId="afd7fbc795c46ad9" providerId="LiveId" clId="{EABCF3CB-BEF9-4392-88E4-05668A4331AB}" dt="2026-09-28T07:29:18.612" v="174" actId="20577"/>
          <ac:spMkLst>
            <pc:docMk/>
            <pc:sldMk cId="1820574644" sldId="260"/>
            <ac:spMk id="4" creationId="{3CFFF386-1948-4AFA-8C2C-66618BCD7BF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DBAF3E3-449E-4E28-81A7-8E14E32A199F}"/>
              </a:ext>
            </a:extLst>
          </p:cNvPr>
          <p:cNvSpPr>
            <a:spLocks noGrp="1"/>
          </p:cNvSpPr>
          <p:nvPr/>
        </p:nvSpPr>
        <p:spPr>
          <a:xfrm>
            <a:off x="762000" y="1076325"/>
            <a:ext cx="10668000" cy="876300"/>
          </a:xfrm>
          <a:prstGeom prst="rect">
            <a:avLst/>
          </a:prstGeom>
          <a:noFill/>
          <a:ln w="0">
            <a:noFill/>
          </a:ln>
        </p:spPr>
        <p:txBody>
          <a:bodyPr>
            <a:noAutofit/>
          </a:bodyPr>
          <a:lstStyle/>
          <a:p>
            <a:pPr>
              <a:defRPr sz="4050" b="1">
                <a:solidFill>
                  <a:srgbClr val="202020"/>
                </a:solidFill>
                <a:latin typeface="Arial"/>
                <a:ea typeface="Arial"/>
                <a:cs typeface="Arial"/>
              </a:defRPr>
            </a:pPr>
            <a:r>
              <a:rPr sz="4050" b="1">
                <a:solidFill>
                  <a:srgbClr val="202020"/>
                </a:solidFill>
                <a:latin typeface="Arial"/>
                <a:ea typeface="Arial"/>
                <a:cs typeface="Arial"/>
              </a:rPr>
              <a:t>CSOPESY Marquee</a:t>
            </a:r>
          </a:p>
        </p:txBody>
      </p:sp>
      <p:sp>
        <p:nvSpPr>
          <p:cNvPr id="2" name="Rectangle 1">
            <a:extLst>
              <a:ext uri="{FF2B5EF4-FFF2-40B4-BE49-F238E27FC236}">
                <a16:creationId xmlns:a16="http://schemas.microsoft.com/office/drawing/2014/main" id="{F42D6A20-4461-464D-9C7D-7D622009547A}"/>
              </a:ext>
            </a:extLst>
          </p:cNvPr>
          <p:cNvSpPr>
            <a:spLocks noGrp="1"/>
          </p:cNvSpPr>
          <p:nvPr/>
        </p:nvSpPr>
        <p:spPr>
          <a:xfrm>
            <a:off x="800100" y="2076450"/>
            <a:ext cx="9525000" cy="523875"/>
          </a:xfrm>
          <a:prstGeom prst="rect">
            <a:avLst/>
          </a:prstGeom>
          <a:noFill/>
          <a:ln w="0">
            <a:noFill/>
          </a:ln>
        </p:spPr>
        <p:txBody>
          <a:bodyPr>
            <a:noAutofit/>
          </a:bodyPr>
          <a:lstStyle/>
          <a:p>
            <a:pPr>
              <a:defRPr sz="2325" b="0">
                <a:solidFill>
                  <a:srgbClr val="202020"/>
                </a:solidFill>
                <a:latin typeface="Arial"/>
                <a:ea typeface="Arial"/>
                <a:cs typeface="Arial"/>
              </a:defRPr>
            </a:pPr>
            <a:r>
              <a:rPr sz="2325" b="0">
                <a:solidFill>
                  <a:srgbClr val="202020"/>
                </a:solidFill>
                <a:latin typeface="Arial"/>
                <a:ea typeface="Arial"/>
                <a:cs typeface="Arial"/>
              </a:rPr>
              <a:t>Technical Report</a:t>
            </a:r>
          </a:p>
        </p:txBody>
      </p:sp>
      <p:sp>
        <p:nvSpPr>
          <p:cNvPr id="3" name="Rectangle 2">
            <a:extLst>
              <a:ext uri="{FF2B5EF4-FFF2-40B4-BE49-F238E27FC236}">
                <a16:creationId xmlns:a16="http://schemas.microsoft.com/office/drawing/2014/main" id="{B648F4EE-AF8D-4D25-8CD8-6A8FDE32E866}"/>
              </a:ext>
            </a:extLst>
          </p:cNvPr>
          <p:cNvSpPr>
            <a:spLocks noGrp="1"/>
          </p:cNvSpPr>
          <p:nvPr/>
        </p:nvSpPr>
        <p:spPr>
          <a:xfrm>
            <a:off x="800100" y="3209925"/>
            <a:ext cx="10477500" cy="2428875"/>
          </a:xfrm>
          <a:prstGeom prst="rect">
            <a:avLst/>
          </a:prstGeom>
          <a:noFill/>
          <a:ln w="0">
            <a:noFill/>
          </a:ln>
        </p:spPr>
        <p:txBody>
          <a:bodyPr>
            <a:noAutofit/>
          </a:bodyPr>
          <a:lstStyle/>
          <a:p>
            <a:pPr>
              <a:defRPr sz="2025" b="0">
                <a:solidFill>
                  <a:srgbClr val="202020"/>
                </a:solidFill>
                <a:latin typeface="Arial"/>
                <a:ea typeface="Arial"/>
                <a:cs typeface="Arial"/>
              </a:defRPr>
            </a:pPr>
            <a:r>
              <a:rPr sz="2025" b="0">
                <a:solidFill>
                  <a:srgbClr val="202020"/>
                </a:solidFill>
                <a:latin typeface="Arial"/>
                <a:ea typeface="Arial"/>
                <a:cs typeface="Arial"/>
              </a:rPr>
              <a:t>Group members</a:t>
            </a:r>
          </a:p>
          <a:p>
            <a:pPr>
              <a:defRPr sz="2025" b="0">
                <a:solidFill>
                  <a:srgbClr val="202020"/>
                </a:solidFill>
                <a:latin typeface="Arial"/>
                <a:ea typeface="Arial"/>
                <a:cs typeface="Arial"/>
              </a:defRPr>
            </a:pPr>
            <a:r>
              <a:rPr sz="2025" b="0">
                <a:solidFill>
                  <a:srgbClr val="202020"/>
                </a:solidFill>
                <a:latin typeface="Arial"/>
                <a:ea typeface="Arial"/>
                <a:cs typeface="Arial"/>
              </a:rPr>
              <a:t>Dela Cruz, Karl Matthew</a:t>
            </a:r>
          </a:p>
          <a:p>
            <a:pPr>
              <a:defRPr sz="2025" b="0">
                <a:solidFill>
                  <a:srgbClr val="202020"/>
                </a:solidFill>
                <a:latin typeface="Arial"/>
                <a:ea typeface="Arial"/>
                <a:cs typeface="Arial"/>
              </a:defRPr>
            </a:pPr>
            <a:r>
              <a:rPr sz="2025" b="0">
                <a:solidFill>
                  <a:srgbClr val="202020"/>
                </a:solidFill>
                <a:latin typeface="Arial"/>
                <a:ea typeface="Arial"/>
                <a:cs typeface="Arial"/>
              </a:rPr>
              <a:t>Aquino, Bon Windel</a:t>
            </a:r>
          </a:p>
          <a:p>
            <a:pPr>
              <a:defRPr sz="2025" b="0">
                <a:solidFill>
                  <a:srgbClr val="202020"/>
                </a:solidFill>
                <a:latin typeface="Arial"/>
                <a:ea typeface="Arial"/>
                <a:cs typeface="Arial"/>
              </a:defRPr>
            </a:pPr>
            <a:r>
              <a:rPr sz="2025" b="0">
                <a:solidFill>
                  <a:srgbClr val="202020"/>
                </a:solidFill>
                <a:latin typeface="Arial"/>
                <a:ea typeface="Arial"/>
                <a:cs typeface="Arial"/>
              </a:rPr>
              <a:t>Espinosa, Jose Miguel</a:t>
            </a:r>
          </a:p>
          <a:p>
            <a:pPr>
              <a:defRPr sz="2025" b="0">
                <a:solidFill>
                  <a:srgbClr val="202020"/>
                </a:solidFill>
                <a:latin typeface="Arial"/>
                <a:ea typeface="Arial"/>
                <a:cs typeface="Arial"/>
              </a:defRPr>
            </a:pPr>
            <a:r>
              <a:rPr sz="2025" b="0">
                <a:solidFill>
                  <a:srgbClr val="202020"/>
                </a:solidFill>
                <a:latin typeface="Arial"/>
                <a:ea typeface="Arial"/>
                <a:cs typeface="Arial"/>
              </a:rPr>
              <a:t>Pineda, Dencel Angelo</a:t>
            </a:r>
          </a:p>
        </p:txBody>
      </p:sp>
    </p:spTree>
    <p:extLst>
      <p:ext uri="{BB962C8B-B14F-4D97-AF65-F5344CB8AC3E}">
        <p14:creationId xmlns:p14="http://schemas.microsoft.com/office/powerpoint/2010/main" val="1586946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21293F-B1D8-4B63-BD75-CCE09058388A}"/>
              </a:ext>
            </a:extLst>
          </p:cNvPr>
          <p:cNvSpPr>
            <a:spLocks noGrp="1"/>
          </p:cNvSpPr>
          <p:nvPr/>
        </p:nvSpPr>
        <p:spPr>
          <a:xfrm>
            <a:off x="685800" y="476250"/>
            <a:ext cx="10820400" cy="685800"/>
          </a:xfrm>
          <a:prstGeom prst="rect">
            <a:avLst/>
          </a:prstGeom>
          <a:noFill/>
          <a:ln w="0">
            <a:noFill/>
          </a:ln>
        </p:spPr>
        <p:txBody>
          <a:bodyPr>
            <a:noAutofit/>
          </a:bodyPr>
          <a:lstStyle/>
          <a:p>
            <a:pPr>
              <a:defRPr sz="3150" b="1">
                <a:solidFill>
                  <a:srgbClr val="202020"/>
                </a:solidFill>
                <a:latin typeface="Arial"/>
                <a:ea typeface="Arial"/>
                <a:cs typeface="Arial"/>
              </a:defRPr>
            </a:pPr>
            <a:r>
              <a:rPr sz="3150" b="1">
                <a:solidFill>
                  <a:srgbClr val="202020"/>
                </a:solidFill>
                <a:latin typeface="Arial"/>
                <a:ea typeface="Arial"/>
                <a:cs typeface="Arial"/>
              </a:rPr>
              <a:t>Console UI implementation</a:t>
            </a:r>
          </a:p>
        </p:txBody>
      </p:sp>
      <p:sp>
        <p:nvSpPr>
          <p:cNvPr id="2" name="Rectangle 1">
            <a:extLst>
              <a:ext uri="{FF2B5EF4-FFF2-40B4-BE49-F238E27FC236}">
                <a16:creationId xmlns:a16="http://schemas.microsoft.com/office/drawing/2014/main" id="{3C7455B0-79F1-409E-A42E-E8226E8DD504}"/>
              </a:ext>
            </a:extLst>
          </p:cNvPr>
          <p:cNvSpPr>
            <a:spLocks noGrp="1"/>
          </p:cNvSpPr>
          <p:nvPr/>
        </p:nvSpPr>
        <p:spPr>
          <a:xfrm>
            <a:off x="685800" y="6429375"/>
            <a:ext cx="10820400" cy="266700"/>
          </a:xfrm>
          <a:prstGeom prst="rect">
            <a:avLst/>
          </a:prstGeom>
          <a:noFill/>
          <a:ln w="0">
            <a:noFill/>
          </a:ln>
        </p:spPr>
        <p:txBody>
          <a:bodyPr>
            <a:noAutofit/>
          </a:bodyPr>
          <a:lstStyle/>
          <a:p>
            <a:pPr>
              <a:defRPr sz="1200" b="0">
                <a:solidFill>
                  <a:srgbClr val="666666"/>
                </a:solidFill>
                <a:latin typeface="Arial"/>
                <a:ea typeface="Arial"/>
                <a:cs typeface="Arial"/>
              </a:defRPr>
            </a:pPr>
            <a:r>
              <a:rPr sz="1200" b="0">
                <a:solidFill>
                  <a:srgbClr val="666666"/>
                </a:solidFill>
                <a:latin typeface="Arial"/>
                <a:ea typeface="Arial"/>
                <a:cs typeface="Arial"/>
              </a:rPr>
              <a:t>Source: main.cpp, ConsoleUI.cpp, AppState.h</a:t>
            </a:r>
          </a:p>
        </p:txBody>
      </p:sp>
      <p:sp>
        <p:nvSpPr>
          <p:cNvPr id="3" name="Rectangle 2">
            <a:extLst>
              <a:ext uri="{FF2B5EF4-FFF2-40B4-BE49-F238E27FC236}">
                <a16:creationId xmlns:a16="http://schemas.microsoft.com/office/drawing/2014/main" id="{759DA504-29B7-4D8C-96E8-22775538CA05}"/>
              </a:ext>
            </a:extLst>
          </p:cNvPr>
          <p:cNvSpPr>
            <a:spLocks noGrp="1"/>
          </p:cNvSpPr>
          <p:nvPr/>
        </p:nvSpPr>
        <p:spPr>
          <a:xfrm>
            <a:off x="762000" y="1390650"/>
            <a:ext cx="10620375" cy="885825"/>
          </a:xfrm>
          <a:prstGeom prst="rect">
            <a:avLst/>
          </a:prstGeom>
          <a:noFill/>
          <a:ln w="0">
            <a:noFill/>
          </a:ln>
        </p:spPr>
        <p:txBody>
          <a:bodyPr>
            <a:noAutofit/>
          </a:bodyPr>
          <a:lstStyle/>
          <a:p>
            <a:pPr>
              <a:defRPr sz="1725" b="0">
                <a:solidFill>
                  <a:srgbClr val="202020"/>
                </a:solidFill>
                <a:latin typeface="Arial"/>
                <a:ea typeface="Arial"/>
                <a:cs typeface="Arial"/>
              </a:defRPr>
            </a:pPr>
            <a:r>
              <a:rPr sz="1725" b="0" dirty="0">
                <a:solidFill>
                  <a:srgbClr val="202020"/>
                </a:solidFill>
                <a:latin typeface="Arial"/>
                <a:ea typeface="Arial"/>
                <a:cs typeface="Arial"/>
              </a:rPr>
              <a:t>At startup, main.cpp reads the visible Windows console size. It chooses a drawing area based on a 90 × 30 character target, with space for a header, marquee, and command area.</a:t>
            </a:r>
          </a:p>
        </p:txBody>
      </p:sp>
      <p:sp>
        <p:nvSpPr>
          <p:cNvPr id="4" name="Rectangle 3">
            <a:extLst>
              <a:ext uri="{FF2B5EF4-FFF2-40B4-BE49-F238E27FC236}">
                <a16:creationId xmlns:a16="http://schemas.microsoft.com/office/drawing/2014/main" id="{11B57A44-551E-46B5-AAC2-751108B8CC8B}"/>
              </a:ext>
            </a:extLst>
          </p:cNvPr>
          <p:cNvSpPr>
            <a:spLocks noGrp="1"/>
          </p:cNvSpPr>
          <p:nvPr/>
        </p:nvSpPr>
        <p:spPr>
          <a:xfrm>
            <a:off x="762000" y="2457450"/>
            <a:ext cx="10620375" cy="885825"/>
          </a:xfrm>
          <a:prstGeom prst="rect">
            <a:avLst/>
          </a:prstGeom>
          <a:noFill/>
          <a:ln w="0">
            <a:noFill/>
          </a:ln>
        </p:spPr>
        <p:txBody>
          <a:bodyPr>
            <a:noAutofit/>
          </a:bodyPr>
          <a:lstStyle/>
          <a:p>
            <a:pPr>
              <a:defRPr sz="1725" b="0">
                <a:solidFill>
                  <a:srgbClr val="202020"/>
                </a:solidFill>
                <a:latin typeface="Arial"/>
                <a:ea typeface="Arial"/>
                <a:cs typeface="Arial"/>
              </a:defRPr>
            </a:pPr>
            <a:r>
              <a:rPr sz="1725" b="0">
                <a:solidFill>
                  <a:srgbClr val="202020"/>
                </a:solidFill>
                <a:latin typeface="Arial"/>
                <a:ea typeface="Arial"/>
                <a:cs typeface="Arial"/>
              </a:rPr>
              <a:t>One main loop keeps the interface running. It checks for typed keys about every 1 ms, but builds and shows a new frame only when the selected refresh interval has passed.</a:t>
            </a:r>
          </a:p>
        </p:txBody>
      </p:sp>
      <p:sp>
        <p:nvSpPr>
          <p:cNvPr id="5" name="Rectangle 4">
            <a:extLst>
              <a:ext uri="{FF2B5EF4-FFF2-40B4-BE49-F238E27FC236}">
                <a16:creationId xmlns:a16="http://schemas.microsoft.com/office/drawing/2014/main" id="{382DA878-B21C-4AD6-AC52-31E1526B33D0}"/>
              </a:ext>
            </a:extLst>
          </p:cNvPr>
          <p:cNvSpPr>
            <a:spLocks noGrp="1"/>
          </p:cNvSpPr>
          <p:nvPr/>
        </p:nvSpPr>
        <p:spPr>
          <a:xfrm>
            <a:off x="762000" y="3524250"/>
            <a:ext cx="10620375" cy="885825"/>
          </a:xfrm>
          <a:prstGeom prst="rect">
            <a:avLst/>
          </a:prstGeom>
          <a:noFill/>
          <a:ln w="0">
            <a:noFill/>
          </a:ln>
        </p:spPr>
        <p:txBody>
          <a:bodyPr>
            <a:noAutofit/>
          </a:bodyPr>
          <a:lstStyle/>
          <a:p>
            <a:pPr>
              <a:defRPr sz="1725" b="0">
                <a:solidFill>
                  <a:srgbClr val="202020"/>
                </a:solidFill>
                <a:latin typeface="Arial"/>
                <a:ea typeface="Arial"/>
                <a:cs typeface="Arial"/>
              </a:defRPr>
            </a:pPr>
            <a:r>
              <a:rPr sz="1725" b="0" dirty="0">
                <a:solidFill>
                  <a:srgbClr val="202020"/>
                </a:solidFill>
                <a:latin typeface="Arial"/>
                <a:ea typeface="Arial"/>
                <a:cs typeface="Arial"/>
              </a:rPr>
              <a:t>The program hides the cursor while the marquee runs and restores it on exit. This keeps the blinking cursor from appearing over the animation.</a:t>
            </a:r>
          </a:p>
        </p:txBody>
      </p:sp>
      <p:sp>
        <p:nvSpPr>
          <p:cNvPr id="6" name="Rectangle 5">
            <a:extLst>
              <a:ext uri="{FF2B5EF4-FFF2-40B4-BE49-F238E27FC236}">
                <a16:creationId xmlns:a16="http://schemas.microsoft.com/office/drawing/2014/main" id="{0D22266B-7B07-422E-B884-270FC11B629E}"/>
              </a:ext>
            </a:extLst>
          </p:cNvPr>
          <p:cNvSpPr>
            <a:spLocks noGrp="1"/>
          </p:cNvSpPr>
          <p:nvPr/>
        </p:nvSpPr>
        <p:spPr>
          <a:xfrm>
            <a:off x="790575" y="4762500"/>
            <a:ext cx="10382250" cy="1219200"/>
          </a:xfrm>
          <a:prstGeom prst="rect">
            <a:avLst/>
          </a:prstGeom>
          <a:solidFill>
            <a:srgbClr val="F4F4F4"/>
          </a:solidFill>
          <a:ln w="0">
            <a:noFill/>
          </a:ln>
        </p:spPr>
        <p:txBody>
          <a:bodyPr>
            <a:noAutofit/>
          </a:bodyPr>
          <a:lstStyle/>
          <a:p>
            <a:pPr>
              <a:defRPr sz="1575" b="0">
                <a:solidFill>
                  <a:srgbClr val="222222"/>
                </a:solidFill>
                <a:latin typeface="Consolas"/>
                <a:ea typeface="Consolas"/>
                <a:cs typeface="Consolas"/>
              </a:defRPr>
            </a:pPr>
            <a:r>
              <a:rPr sz="1575" b="0">
                <a:solidFill>
                  <a:srgbClr val="222222"/>
                </a:solidFill>
                <a:latin typeface="Consolas"/>
                <a:ea typeface="Consolas"/>
                <a:cs typeface="Consolas"/>
              </a:rPr>
              <a:t>getConsoleSize(w, h);</a:t>
            </a:r>
          </a:p>
          <a:p>
            <a:pPr>
              <a:defRPr sz="1575" b="0">
                <a:solidFill>
                  <a:srgbClr val="222222"/>
                </a:solidFill>
                <a:latin typeface="Consolas"/>
                <a:ea typeface="Consolas"/>
                <a:cs typeface="Consolas"/>
              </a:defRPr>
            </a:pPr>
            <a:r>
              <a:rPr sz="1575" b="0">
                <a:solidFill>
                  <a:srgbClr val="222222"/>
                </a:solidFill>
                <a:latin typeface="Consolas"/>
                <a:ea typeface="Consolas"/>
                <a:cs typeface="Consolas"/>
              </a:rPr>
              <a:t>setCursorVisible(false);</a:t>
            </a:r>
          </a:p>
          <a:p>
            <a:pPr>
              <a:defRPr sz="1575" b="0">
                <a:solidFill>
                  <a:srgbClr val="222222"/>
                </a:solidFill>
                <a:latin typeface="Consolas"/>
                <a:ea typeface="Consolas"/>
                <a:cs typeface="Consolas"/>
              </a:defRPr>
            </a:pPr>
            <a:r>
              <a:rPr sz="1575" b="0">
                <a:solidFill>
                  <a:srgbClr val="222222"/>
                </a:solidFill>
                <a:latin typeface="Consolas"/>
                <a:ea typeface="Consolas"/>
                <a:cs typeface="Consolas"/>
              </a:rPr>
              <a:t>while (app.running) { /* poll input and redraw */ }</a:t>
            </a:r>
          </a:p>
        </p:txBody>
      </p:sp>
    </p:spTree>
    <p:extLst>
      <p:ext uri="{BB962C8B-B14F-4D97-AF65-F5344CB8AC3E}">
        <p14:creationId xmlns:p14="http://schemas.microsoft.com/office/powerpoint/2010/main" val="210540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697901-F3C0-4037-A1EE-59A48B087953}"/>
              </a:ext>
            </a:extLst>
          </p:cNvPr>
          <p:cNvSpPr>
            <a:spLocks noGrp="1"/>
          </p:cNvSpPr>
          <p:nvPr/>
        </p:nvSpPr>
        <p:spPr>
          <a:xfrm>
            <a:off x="685800" y="476250"/>
            <a:ext cx="10820400" cy="685800"/>
          </a:xfrm>
          <a:prstGeom prst="rect">
            <a:avLst/>
          </a:prstGeom>
          <a:noFill/>
          <a:ln w="0">
            <a:noFill/>
          </a:ln>
        </p:spPr>
        <p:txBody>
          <a:bodyPr>
            <a:noAutofit/>
          </a:bodyPr>
          <a:lstStyle/>
          <a:p>
            <a:pPr>
              <a:defRPr sz="3150" b="1">
                <a:solidFill>
                  <a:srgbClr val="202020"/>
                </a:solidFill>
                <a:latin typeface="Arial"/>
                <a:ea typeface="Arial"/>
                <a:cs typeface="Arial"/>
              </a:defRPr>
            </a:pPr>
            <a:r>
              <a:rPr sz="3150" b="1">
                <a:solidFill>
                  <a:srgbClr val="202020"/>
                </a:solidFill>
                <a:latin typeface="Arial"/>
                <a:ea typeface="Arial"/>
                <a:cs typeface="Arial"/>
              </a:rPr>
              <a:t>Command interpreter implementation</a:t>
            </a:r>
          </a:p>
        </p:txBody>
      </p:sp>
      <p:sp>
        <p:nvSpPr>
          <p:cNvPr id="2" name="Rectangle 1">
            <a:extLst>
              <a:ext uri="{FF2B5EF4-FFF2-40B4-BE49-F238E27FC236}">
                <a16:creationId xmlns:a16="http://schemas.microsoft.com/office/drawing/2014/main" id="{0E973838-DA85-468D-A378-0BC33514E5B8}"/>
              </a:ext>
            </a:extLst>
          </p:cNvPr>
          <p:cNvSpPr>
            <a:spLocks noGrp="1"/>
          </p:cNvSpPr>
          <p:nvPr/>
        </p:nvSpPr>
        <p:spPr>
          <a:xfrm>
            <a:off x="685800" y="6429375"/>
            <a:ext cx="10820400" cy="266700"/>
          </a:xfrm>
          <a:prstGeom prst="rect">
            <a:avLst/>
          </a:prstGeom>
          <a:noFill/>
          <a:ln w="0">
            <a:noFill/>
          </a:ln>
        </p:spPr>
        <p:txBody>
          <a:bodyPr>
            <a:noAutofit/>
          </a:bodyPr>
          <a:lstStyle/>
          <a:p>
            <a:pPr>
              <a:defRPr sz="1200" b="0">
                <a:solidFill>
                  <a:srgbClr val="666666"/>
                </a:solidFill>
                <a:latin typeface="Arial"/>
                <a:ea typeface="Arial"/>
                <a:cs typeface="Arial"/>
              </a:defRPr>
            </a:pPr>
            <a:r>
              <a:rPr sz="1200" b="0">
                <a:solidFill>
                  <a:srgbClr val="666666"/>
                </a:solidFill>
                <a:latin typeface="Arial"/>
                <a:ea typeface="Arial"/>
                <a:cs typeface="Arial"/>
              </a:rPr>
              <a:t>Source: CommandInterpreter.cpp</a:t>
            </a:r>
          </a:p>
        </p:txBody>
      </p:sp>
      <p:sp>
        <p:nvSpPr>
          <p:cNvPr id="3" name="Rectangle 2">
            <a:extLst>
              <a:ext uri="{FF2B5EF4-FFF2-40B4-BE49-F238E27FC236}">
                <a16:creationId xmlns:a16="http://schemas.microsoft.com/office/drawing/2014/main" id="{7DC7A395-BD93-4A1C-BB4D-AB218C8BABF2}"/>
              </a:ext>
            </a:extLst>
          </p:cNvPr>
          <p:cNvSpPr>
            <a:spLocks noGrp="1"/>
          </p:cNvSpPr>
          <p:nvPr/>
        </p:nvSpPr>
        <p:spPr>
          <a:xfrm>
            <a:off x="762000" y="1352550"/>
            <a:ext cx="10620375" cy="885825"/>
          </a:xfrm>
          <a:prstGeom prst="rect">
            <a:avLst/>
          </a:prstGeom>
          <a:noFill/>
          <a:ln w="0">
            <a:noFill/>
          </a:ln>
        </p:spPr>
        <p:txBody>
          <a:bodyPr>
            <a:noAutofit/>
          </a:bodyPr>
          <a:lstStyle/>
          <a:p>
            <a:pPr>
              <a:defRPr sz="1725" b="0">
                <a:solidFill>
                  <a:srgbClr val="202020"/>
                </a:solidFill>
                <a:latin typeface="Arial"/>
                <a:ea typeface="Arial"/>
                <a:cs typeface="Arial"/>
              </a:defRPr>
            </a:pPr>
            <a:r>
              <a:rPr sz="1725" b="0" dirty="0" err="1">
                <a:solidFill>
                  <a:srgbClr val="202020"/>
                </a:solidFill>
                <a:latin typeface="Arial"/>
                <a:ea typeface="Arial"/>
                <a:cs typeface="Arial"/>
              </a:rPr>
              <a:t>pollInput</a:t>
            </a:r>
            <a:r>
              <a:rPr sz="1725" b="0" dirty="0">
                <a:solidFill>
                  <a:srgbClr val="202020"/>
                </a:solidFill>
                <a:latin typeface="Arial"/>
                <a:ea typeface="Arial"/>
                <a:cs typeface="Arial"/>
              </a:rPr>
              <a:t> reads available keys without waiting for a full line. It adds typed characters to </a:t>
            </a:r>
            <a:r>
              <a:rPr sz="1725" b="0" dirty="0" err="1">
                <a:solidFill>
                  <a:srgbClr val="202020"/>
                </a:solidFill>
                <a:latin typeface="Arial"/>
                <a:ea typeface="Arial"/>
                <a:cs typeface="Arial"/>
              </a:rPr>
              <a:t>currentInput</a:t>
            </a:r>
            <a:r>
              <a:rPr sz="1725" b="0" dirty="0">
                <a:solidFill>
                  <a:srgbClr val="202020"/>
                </a:solidFill>
                <a:latin typeface="Arial"/>
                <a:ea typeface="Arial"/>
                <a:cs typeface="Arial"/>
              </a:rPr>
              <a:t>, removes a character for Backspace, and submits the line when Enter is pressed.</a:t>
            </a:r>
          </a:p>
        </p:txBody>
      </p:sp>
      <p:sp>
        <p:nvSpPr>
          <p:cNvPr id="4" name="Rectangle 3">
            <a:extLst>
              <a:ext uri="{FF2B5EF4-FFF2-40B4-BE49-F238E27FC236}">
                <a16:creationId xmlns:a16="http://schemas.microsoft.com/office/drawing/2014/main" id="{FAE34C49-D143-485E-8838-0CDCB9F85848}"/>
              </a:ext>
            </a:extLst>
          </p:cNvPr>
          <p:cNvSpPr>
            <a:spLocks noGrp="1"/>
          </p:cNvSpPr>
          <p:nvPr/>
        </p:nvSpPr>
        <p:spPr>
          <a:xfrm>
            <a:off x="762000" y="2428875"/>
            <a:ext cx="10620375" cy="885825"/>
          </a:xfrm>
          <a:prstGeom prst="rect">
            <a:avLst/>
          </a:prstGeom>
          <a:noFill/>
          <a:ln w="0">
            <a:noFill/>
          </a:ln>
        </p:spPr>
        <p:txBody>
          <a:bodyPr>
            <a:noAutofit/>
          </a:bodyPr>
          <a:lstStyle/>
          <a:p>
            <a:pPr>
              <a:defRPr sz="1725" b="0">
                <a:solidFill>
                  <a:srgbClr val="202020"/>
                </a:solidFill>
                <a:latin typeface="Arial"/>
                <a:ea typeface="Arial"/>
                <a:cs typeface="Arial"/>
              </a:defRPr>
            </a:pPr>
            <a:r>
              <a:rPr sz="1725" b="0" dirty="0" err="1">
                <a:solidFill>
                  <a:srgbClr val="202020"/>
                </a:solidFill>
                <a:latin typeface="Arial"/>
                <a:ea typeface="Arial"/>
                <a:cs typeface="Arial"/>
              </a:rPr>
              <a:t>submitCommand</a:t>
            </a:r>
            <a:r>
              <a:rPr sz="1725" b="0" dirty="0">
                <a:solidFill>
                  <a:srgbClr val="202020"/>
                </a:solidFill>
                <a:latin typeface="Arial"/>
                <a:ea typeface="Arial"/>
                <a:cs typeface="Arial"/>
              </a:rPr>
              <a:t> removes extra spaces, converts the command name to lowercase, and separates its argument. It handles help, </a:t>
            </a:r>
            <a:r>
              <a:rPr sz="1725" b="0" dirty="0" err="1">
                <a:solidFill>
                  <a:srgbClr val="202020"/>
                </a:solidFill>
                <a:latin typeface="Arial"/>
                <a:ea typeface="Arial"/>
                <a:cs typeface="Arial"/>
              </a:rPr>
              <a:t>start_marquee</a:t>
            </a:r>
            <a:r>
              <a:rPr sz="1725" b="0" dirty="0">
                <a:solidFill>
                  <a:srgbClr val="202020"/>
                </a:solidFill>
                <a:latin typeface="Arial"/>
                <a:ea typeface="Arial"/>
                <a:cs typeface="Arial"/>
              </a:rPr>
              <a:t>, </a:t>
            </a:r>
            <a:r>
              <a:rPr sz="1725" b="0" dirty="0" err="1">
                <a:solidFill>
                  <a:srgbClr val="202020"/>
                </a:solidFill>
                <a:latin typeface="Arial"/>
                <a:ea typeface="Arial"/>
                <a:cs typeface="Arial"/>
              </a:rPr>
              <a:t>stop_marquee</a:t>
            </a:r>
            <a:r>
              <a:rPr sz="1725" b="0" dirty="0">
                <a:solidFill>
                  <a:srgbClr val="202020"/>
                </a:solidFill>
                <a:latin typeface="Arial"/>
                <a:ea typeface="Arial"/>
                <a:cs typeface="Arial"/>
              </a:rPr>
              <a:t>, </a:t>
            </a:r>
            <a:r>
              <a:rPr sz="1725" b="0" dirty="0" err="1">
                <a:solidFill>
                  <a:srgbClr val="202020"/>
                </a:solidFill>
                <a:latin typeface="Arial"/>
                <a:ea typeface="Arial"/>
                <a:cs typeface="Arial"/>
              </a:rPr>
              <a:t>set_text</a:t>
            </a:r>
            <a:r>
              <a:rPr sz="1725" b="0" dirty="0">
                <a:solidFill>
                  <a:srgbClr val="202020"/>
                </a:solidFill>
                <a:latin typeface="Arial"/>
                <a:ea typeface="Arial"/>
                <a:cs typeface="Arial"/>
              </a:rPr>
              <a:t>, </a:t>
            </a:r>
            <a:r>
              <a:rPr sz="1725" b="0" dirty="0" err="1">
                <a:solidFill>
                  <a:srgbClr val="202020"/>
                </a:solidFill>
                <a:latin typeface="Arial"/>
                <a:ea typeface="Arial"/>
                <a:cs typeface="Arial"/>
              </a:rPr>
              <a:t>set_speed</a:t>
            </a:r>
            <a:r>
              <a:rPr sz="1725" b="0" dirty="0">
                <a:solidFill>
                  <a:srgbClr val="202020"/>
                </a:solidFill>
                <a:latin typeface="Arial"/>
                <a:ea typeface="Arial"/>
                <a:cs typeface="Arial"/>
              </a:rPr>
              <a:t>, and exit; unknown commands show an error.</a:t>
            </a:r>
            <a:r>
              <a:rPr lang="en-US" sz="1725" b="0" dirty="0">
                <a:solidFill>
                  <a:srgbClr val="202020"/>
                </a:solidFill>
                <a:latin typeface="Arial"/>
                <a:ea typeface="Arial"/>
                <a:cs typeface="Arial"/>
              </a:rPr>
              <a:t> This is done by </a:t>
            </a:r>
            <a:r>
              <a:rPr lang="en-US" sz="1725" b="0" dirty="0" err="1">
                <a:solidFill>
                  <a:srgbClr val="202020"/>
                </a:solidFill>
                <a:latin typeface="Arial"/>
                <a:ea typeface="Arial"/>
                <a:cs typeface="Arial"/>
              </a:rPr>
              <a:t>tsomewhat</a:t>
            </a:r>
            <a:r>
              <a:rPr lang="en-US" sz="1725" b="0" dirty="0">
                <a:solidFill>
                  <a:srgbClr val="202020"/>
                </a:solidFill>
                <a:latin typeface="Arial"/>
                <a:ea typeface="Arial"/>
                <a:cs typeface="Arial"/>
              </a:rPr>
              <a:t> tokenizing the input and getting the substring and separating it</a:t>
            </a:r>
            <a:endParaRPr sz="1725" b="0" dirty="0">
              <a:solidFill>
                <a:srgbClr val="202020"/>
              </a:solidFill>
              <a:latin typeface="Arial"/>
              <a:ea typeface="Arial"/>
              <a:cs typeface="Arial"/>
            </a:endParaRPr>
          </a:p>
        </p:txBody>
      </p:sp>
      <p:sp>
        <p:nvSpPr>
          <p:cNvPr id="5" name="Rectangle 4">
            <a:extLst>
              <a:ext uri="{FF2B5EF4-FFF2-40B4-BE49-F238E27FC236}">
                <a16:creationId xmlns:a16="http://schemas.microsoft.com/office/drawing/2014/main" id="{8CA17FB6-71D5-41CD-B890-61BE47ED77B7}"/>
              </a:ext>
            </a:extLst>
          </p:cNvPr>
          <p:cNvSpPr>
            <a:spLocks noGrp="1"/>
          </p:cNvSpPr>
          <p:nvPr/>
        </p:nvSpPr>
        <p:spPr>
          <a:xfrm>
            <a:off x="761999" y="3686175"/>
            <a:ext cx="10620375" cy="885825"/>
          </a:xfrm>
          <a:prstGeom prst="rect">
            <a:avLst/>
          </a:prstGeom>
          <a:noFill/>
          <a:ln w="0">
            <a:noFill/>
          </a:ln>
        </p:spPr>
        <p:txBody>
          <a:bodyPr>
            <a:noAutofit/>
          </a:bodyPr>
          <a:lstStyle/>
          <a:p>
            <a:pPr>
              <a:defRPr sz="1725" b="0">
                <a:solidFill>
                  <a:srgbClr val="202020"/>
                </a:solidFill>
                <a:latin typeface="Arial"/>
                <a:ea typeface="Arial"/>
                <a:cs typeface="Arial"/>
              </a:defRPr>
            </a:pPr>
            <a:r>
              <a:rPr sz="1725" b="0" dirty="0" err="1">
                <a:solidFill>
                  <a:srgbClr val="202020"/>
                </a:solidFill>
                <a:latin typeface="Arial"/>
                <a:ea typeface="Arial"/>
                <a:cs typeface="Arial"/>
              </a:rPr>
              <a:t>set_text</a:t>
            </a:r>
            <a:r>
              <a:rPr sz="1725" b="0" dirty="0">
                <a:solidFill>
                  <a:srgbClr val="202020"/>
                </a:solidFill>
                <a:latin typeface="Arial"/>
                <a:ea typeface="Arial"/>
                <a:cs typeface="Arial"/>
              </a:rPr>
              <a:t> replaces the displayed art with the supplied text and resets its position. </a:t>
            </a:r>
            <a:r>
              <a:rPr sz="1725" b="0" dirty="0" err="1">
                <a:solidFill>
                  <a:srgbClr val="202020"/>
                </a:solidFill>
                <a:latin typeface="Arial"/>
                <a:ea typeface="Arial"/>
                <a:cs typeface="Arial"/>
              </a:rPr>
              <a:t>set_speed</a:t>
            </a:r>
            <a:r>
              <a:rPr sz="1725" b="0" dirty="0">
                <a:solidFill>
                  <a:srgbClr val="202020"/>
                </a:solidFill>
                <a:latin typeface="Arial"/>
                <a:ea typeface="Arial"/>
                <a:cs typeface="Arial"/>
              </a:rPr>
              <a:t> accepts an integer from 1 to 60000 and stores it as the redraw interval in milliseconds.</a:t>
            </a:r>
          </a:p>
        </p:txBody>
      </p:sp>
      <p:sp>
        <p:nvSpPr>
          <p:cNvPr id="6" name="Rectangle 5">
            <a:extLst>
              <a:ext uri="{FF2B5EF4-FFF2-40B4-BE49-F238E27FC236}">
                <a16:creationId xmlns:a16="http://schemas.microsoft.com/office/drawing/2014/main" id="{0102E60E-4A34-4B8D-8BCA-B3D18818C2A0}"/>
              </a:ext>
            </a:extLst>
          </p:cNvPr>
          <p:cNvSpPr>
            <a:spLocks noGrp="1"/>
          </p:cNvSpPr>
          <p:nvPr/>
        </p:nvSpPr>
        <p:spPr>
          <a:xfrm>
            <a:off x="790575" y="4762500"/>
            <a:ext cx="10382250" cy="1295400"/>
          </a:xfrm>
          <a:prstGeom prst="rect">
            <a:avLst/>
          </a:prstGeom>
          <a:solidFill>
            <a:srgbClr val="F4F4F4"/>
          </a:solidFill>
          <a:ln w="0">
            <a:noFill/>
          </a:ln>
        </p:spPr>
        <p:txBody>
          <a:bodyPr>
            <a:noAutofit/>
          </a:bodyPr>
          <a:lstStyle/>
          <a:p>
            <a:pPr>
              <a:defRPr sz="1575" b="0">
                <a:solidFill>
                  <a:srgbClr val="222222"/>
                </a:solidFill>
                <a:latin typeface="Consolas"/>
                <a:ea typeface="Consolas"/>
                <a:cs typeface="Consolas"/>
              </a:defRPr>
            </a:pPr>
            <a:r>
              <a:rPr sz="1575" b="0">
                <a:solidFill>
                  <a:srgbClr val="222222"/>
                </a:solidFill>
                <a:latin typeface="Consolas"/>
                <a:ea typeface="Consolas"/>
                <a:cs typeface="Consolas"/>
              </a:rPr>
              <a:t>const std::string command = toLower(input.substr(0, separator));</a:t>
            </a:r>
          </a:p>
          <a:p>
            <a:pPr>
              <a:defRPr sz="1575" b="0">
                <a:solidFill>
                  <a:srgbClr val="222222"/>
                </a:solidFill>
                <a:latin typeface="Consolas"/>
                <a:ea typeface="Consolas"/>
                <a:cs typeface="Consolas"/>
              </a:defRPr>
            </a:pPr>
            <a:r>
              <a:rPr sz="1575" b="0">
                <a:solidFill>
                  <a:srgbClr val="222222"/>
                </a:solidFill>
                <a:latin typeface="Consolas"/>
                <a:ea typeface="Consolas"/>
                <a:cs typeface="Consolas"/>
              </a:rPr>
              <a:t>if (command == "set_speed") {</a:t>
            </a:r>
          </a:p>
          <a:p>
            <a:pPr>
              <a:defRPr sz="1575" b="0">
                <a:solidFill>
                  <a:srgbClr val="222222"/>
                </a:solidFill>
                <a:latin typeface="Consolas"/>
                <a:ea typeface="Consolas"/>
                <a:cs typeface="Consolas"/>
              </a:defRPr>
            </a:pPr>
            <a:r>
              <a:rPr sz="1575" b="0">
                <a:solidFill>
                  <a:srgbClr val="222222"/>
                </a:solidFill>
                <a:latin typeface="Consolas"/>
                <a:ea typeface="Consolas"/>
                <a:cs typeface="Consolas"/>
              </a:rPr>
              <a:t>    app.refreshMs = milliseconds;</a:t>
            </a:r>
          </a:p>
          <a:p>
            <a:pPr>
              <a:defRPr sz="1575" b="0">
                <a:solidFill>
                  <a:srgbClr val="222222"/>
                </a:solidFill>
                <a:latin typeface="Consolas"/>
                <a:ea typeface="Consolas"/>
                <a:cs typeface="Consolas"/>
              </a:defRPr>
            </a:pPr>
            <a:r>
              <a:rPr sz="1575" b="0">
                <a:solidFill>
                  <a:srgbClr val="222222"/>
                </a:solidFill>
                <a:latin typeface="Consolas"/>
                <a:ea typeface="Consolas"/>
                <a:cs typeface="Consolas"/>
              </a:rPr>
              <a:t>}</a:t>
            </a:r>
          </a:p>
        </p:txBody>
      </p:sp>
    </p:spTree>
    <p:extLst>
      <p:ext uri="{BB962C8B-B14F-4D97-AF65-F5344CB8AC3E}">
        <p14:creationId xmlns:p14="http://schemas.microsoft.com/office/powerpoint/2010/main" val="54068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47482E6-D0C9-4A3B-9894-FD12A4B9892C}"/>
              </a:ext>
            </a:extLst>
          </p:cNvPr>
          <p:cNvSpPr>
            <a:spLocks noGrp="1"/>
          </p:cNvSpPr>
          <p:nvPr/>
        </p:nvSpPr>
        <p:spPr>
          <a:xfrm>
            <a:off x="685800" y="476250"/>
            <a:ext cx="10820400" cy="685800"/>
          </a:xfrm>
          <a:prstGeom prst="rect">
            <a:avLst/>
          </a:prstGeom>
          <a:noFill/>
          <a:ln w="0">
            <a:noFill/>
          </a:ln>
        </p:spPr>
        <p:txBody>
          <a:bodyPr>
            <a:noAutofit/>
          </a:bodyPr>
          <a:lstStyle/>
          <a:p>
            <a:pPr>
              <a:defRPr sz="3150" b="1">
                <a:solidFill>
                  <a:srgbClr val="202020"/>
                </a:solidFill>
                <a:latin typeface="Arial"/>
                <a:ea typeface="Arial"/>
                <a:cs typeface="Arial"/>
              </a:defRPr>
            </a:pPr>
            <a:r>
              <a:rPr sz="3150" b="1">
                <a:solidFill>
                  <a:srgbClr val="202020"/>
                </a:solidFill>
                <a:latin typeface="Arial"/>
                <a:ea typeface="Arial"/>
                <a:cs typeface="Arial"/>
              </a:rPr>
              <a:t>Display implementation</a:t>
            </a:r>
          </a:p>
        </p:txBody>
      </p:sp>
      <p:sp>
        <p:nvSpPr>
          <p:cNvPr id="2" name="Rectangle 1">
            <a:extLst>
              <a:ext uri="{FF2B5EF4-FFF2-40B4-BE49-F238E27FC236}">
                <a16:creationId xmlns:a16="http://schemas.microsoft.com/office/drawing/2014/main" id="{C5A57DC1-5747-4C44-9916-F1990EAB4F02}"/>
              </a:ext>
            </a:extLst>
          </p:cNvPr>
          <p:cNvSpPr>
            <a:spLocks noGrp="1"/>
          </p:cNvSpPr>
          <p:nvPr/>
        </p:nvSpPr>
        <p:spPr>
          <a:xfrm>
            <a:off x="685800" y="6429375"/>
            <a:ext cx="10820400" cy="266700"/>
          </a:xfrm>
          <a:prstGeom prst="rect">
            <a:avLst/>
          </a:prstGeom>
          <a:noFill/>
          <a:ln w="0">
            <a:noFill/>
          </a:ln>
        </p:spPr>
        <p:txBody>
          <a:bodyPr>
            <a:noAutofit/>
          </a:bodyPr>
          <a:lstStyle/>
          <a:p>
            <a:pPr>
              <a:defRPr sz="1200" b="0">
                <a:solidFill>
                  <a:srgbClr val="666666"/>
                </a:solidFill>
                <a:latin typeface="Arial"/>
                <a:ea typeface="Arial"/>
                <a:cs typeface="Arial"/>
              </a:defRPr>
            </a:pPr>
            <a:r>
              <a:rPr sz="1200" b="0">
                <a:solidFill>
                  <a:srgbClr val="666666"/>
                </a:solidFill>
                <a:latin typeface="Arial"/>
                <a:ea typeface="Arial"/>
                <a:cs typeface="Arial"/>
              </a:rPr>
              <a:t>Source: ConsoleUI.cpp</a:t>
            </a:r>
          </a:p>
        </p:txBody>
      </p:sp>
      <p:sp>
        <p:nvSpPr>
          <p:cNvPr id="3" name="Rectangle 2">
            <a:extLst>
              <a:ext uri="{FF2B5EF4-FFF2-40B4-BE49-F238E27FC236}">
                <a16:creationId xmlns:a16="http://schemas.microsoft.com/office/drawing/2014/main" id="{012BD61C-BDF9-43AF-80AE-3F02DE1A0AF0}"/>
              </a:ext>
            </a:extLst>
          </p:cNvPr>
          <p:cNvSpPr>
            <a:spLocks noGrp="1"/>
          </p:cNvSpPr>
          <p:nvPr/>
        </p:nvSpPr>
        <p:spPr>
          <a:xfrm>
            <a:off x="762000" y="1390650"/>
            <a:ext cx="10620375" cy="885825"/>
          </a:xfrm>
          <a:prstGeom prst="rect">
            <a:avLst/>
          </a:prstGeom>
          <a:noFill/>
          <a:ln w="0">
            <a:noFill/>
          </a:ln>
        </p:spPr>
        <p:txBody>
          <a:bodyPr>
            <a:noAutofit/>
          </a:bodyPr>
          <a:lstStyle/>
          <a:p>
            <a:pPr>
              <a:defRPr sz="1725" b="0">
                <a:solidFill>
                  <a:srgbClr val="202020"/>
                </a:solidFill>
                <a:latin typeface="Arial"/>
                <a:ea typeface="Arial"/>
                <a:cs typeface="Arial"/>
              </a:defRPr>
            </a:pPr>
            <a:r>
              <a:rPr sz="1725" b="0">
                <a:solidFill>
                  <a:srgbClr val="202020"/>
                </a:solidFill>
                <a:latin typeface="Arial"/>
                <a:ea typeface="Arial"/>
                <a:cs typeface="Arial"/>
              </a:rPr>
              <a:t>buildFrame creates a grid with H rows and W columns, initially filled with spaces. This gives each new frame a blank screen to draw on.</a:t>
            </a:r>
          </a:p>
        </p:txBody>
      </p:sp>
      <p:sp>
        <p:nvSpPr>
          <p:cNvPr id="4" name="Rectangle 3">
            <a:extLst>
              <a:ext uri="{FF2B5EF4-FFF2-40B4-BE49-F238E27FC236}">
                <a16:creationId xmlns:a16="http://schemas.microsoft.com/office/drawing/2014/main" id="{4E3700E8-653C-4C46-99F0-6507FC345ADA}"/>
              </a:ext>
            </a:extLst>
          </p:cNvPr>
          <p:cNvSpPr>
            <a:spLocks noGrp="1"/>
          </p:cNvSpPr>
          <p:nvPr/>
        </p:nvSpPr>
        <p:spPr>
          <a:xfrm>
            <a:off x="762000" y="2457450"/>
            <a:ext cx="10620375" cy="885825"/>
          </a:xfrm>
          <a:prstGeom prst="rect">
            <a:avLst/>
          </a:prstGeom>
          <a:noFill/>
          <a:ln w="0">
            <a:noFill/>
          </a:ln>
        </p:spPr>
        <p:txBody>
          <a:bodyPr>
            <a:noAutofit/>
          </a:bodyPr>
          <a:lstStyle/>
          <a:p>
            <a:pPr>
              <a:defRPr sz="1725" b="0">
                <a:solidFill>
                  <a:srgbClr val="202020"/>
                </a:solidFill>
                <a:latin typeface="Arial"/>
                <a:ea typeface="Arial"/>
                <a:cs typeface="Arial"/>
              </a:defRPr>
            </a:pPr>
            <a:r>
              <a:rPr sz="1725" b="0">
                <a:solidFill>
                  <a:srgbClr val="202020"/>
                </a:solidFill>
                <a:latin typeface="Arial"/>
                <a:ea typeface="Arial"/>
                <a:cs typeface="Arial"/>
              </a:rPr>
              <a:t>It adds the title at the top, places the current ASCII art at its x/y position, and writes the status, command prompt, and recent output near the bottom.</a:t>
            </a:r>
          </a:p>
        </p:txBody>
      </p:sp>
      <p:sp>
        <p:nvSpPr>
          <p:cNvPr id="5" name="Rectangle 4">
            <a:extLst>
              <a:ext uri="{FF2B5EF4-FFF2-40B4-BE49-F238E27FC236}">
                <a16:creationId xmlns:a16="http://schemas.microsoft.com/office/drawing/2014/main" id="{36D57DAB-03C6-4070-B4D8-D964E89FA12C}"/>
              </a:ext>
            </a:extLst>
          </p:cNvPr>
          <p:cNvSpPr>
            <a:spLocks noGrp="1"/>
          </p:cNvSpPr>
          <p:nvPr/>
        </p:nvSpPr>
        <p:spPr>
          <a:xfrm>
            <a:off x="762000" y="3524250"/>
            <a:ext cx="10620375" cy="885825"/>
          </a:xfrm>
          <a:prstGeom prst="rect">
            <a:avLst/>
          </a:prstGeom>
          <a:noFill/>
          <a:ln w="0">
            <a:noFill/>
          </a:ln>
        </p:spPr>
        <p:txBody>
          <a:bodyPr>
            <a:noAutofit/>
          </a:bodyPr>
          <a:lstStyle/>
          <a:p>
            <a:pPr>
              <a:defRPr sz="1725" b="0">
                <a:solidFill>
                  <a:srgbClr val="202020"/>
                </a:solidFill>
                <a:latin typeface="Arial"/>
                <a:ea typeface="Arial"/>
                <a:cs typeface="Arial"/>
              </a:defRPr>
            </a:pPr>
            <a:r>
              <a:rPr sz="1725" b="0">
                <a:solidFill>
                  <a:srgbClr val="202020"/>
                </a:solidFill>
                <a:latin typeface="Arial"/>
                <a:ea typeface="Arial"/>
                <a:cs typeface="Arial"/>
              </a:rPr>
              <a:t>The rows are joined into one string. drawFrame moves the console cursor to (0, 0) and prints the string, so the next frame appears in the same screen area instead of scrolling.</a:t>
            </a:r>
          </a:p>
        </p:txBody>
      </p:sp>
      <p:sp>
        <p:nvSpPr>
          <p:cNvPr id="6" name="Rectangle 5">
            <a:extLst>
              <a:ext uri="{FF2B5EF4-FFF2-40B4-BE49-F238E27FC236}">
                <a16:creationId xmlns:a16="http://schemas.microsoft.com/office/drawing/2014/main" id="{126D1DC3-823C-472F-8759-C5084F3E38E4}"/>
              </a:ext>
            </a:extLst>
          </p:cNvPr>
          <p:cNvSpPr>
            <a:spLocks noGrp="1"/>
          </p:cNvSpPr>
          <p:nvPr/>
        </p:nvSpPr>
        <p:spPr>
          <a:xfrm>
            <a:off x="790575" y="4762500"/>
            <a:ext cx="10382250" cy="1219200"/>
          </a:xfrm>
          <a:prstGeom prst="rect">
            <a:avLst/>
          </a:prstGeom>
          <a:solidFill>
            <a:srgbClr val="F4F4F4"/>
          </a:solidFill>
          <a:ln w="0">
            <a:noFill/>
          </a:ln>
        </p:spPr>
        <p:txBody>
          <a:bodyPr>
            <a:noAutofit/>
          </a:bodyPr>
          <a:lstStyle/>
          <a:p>
            <a:pPr>
              <a:defRPr sz="1575" b="0">
                <a:solidFill>
                  <a:srgbClr val="222222"/>
                </a:solidFill>
                <a:latin typeface="Consolas"/>
                <a:ea typeface="Consolas"/>
                <a:cs typeface="Consolas"/>
              </a:defRPr>
            </a:pPr>
            <a:r>
              <a:rPr sz="1575" b="0">
                <a:solidFill>
                  <a:srgbClr val="222222"/>
                </a:solidFill>
                <a:latin typeface="Consolas"/>
                <a:ea typeface="Consolas"/>
                <a:cs typeface="Consolas"/>
              </a:rPr>
              <a:t>std::vector&lt;std::string&gt; rows(H, std::string(W, ' '));</a:t>
            </a:r>
          </a:p>
          <a:p>
            <a:pPr>
              <a:defRPr sz="1575" b="0">
                <a:solidFill>
                  <a:srgbClr val="222222"/>
                </a:solidFill>
                <a:latin typeface="Consolas"/>
                <a:ea typeface="Consolas"/>
                <a:cs typeface="Consolas"/>
              </a:defRPr>
            </a:pPr>
            <a:r>
              <a:rPr sz="1575" b="0">
                <a:solidFill>
                  <a:srgbClr val="222222"/>
                </a:solidFill>
                <a:latin typeface="Consolas"/>
                <a:ea typeface="Consolas"/>
                <a:cs typeface="Consolas"/>
              </a:rPr>
              <a:t>setCursorPosition(0, 0);</a:t>
            </a:r>
          </a:p>
          <a:p>
            <a:pPr>
              <a:defRPr sz="1575" b="0">
                <a:solidFill>
                  <a:srgbClr val="222222"/>
                </a:solidFill>
                <a:latin typeface="Consolas"/>
                <a:ea typeface="Consolas"/>
                <a:cs typeface="Consolas"/>
              </a:defRPr>
            </a:pPr>
            <a:r>
              <a:rPr sz="1575" b="0">
                <a:solidFill>
                  <a:srgbClr val="222222"/>
                </a:solidFill>
                <a:latin typeface="Consolas"/>
                <a:ea typeface="Consolas"/>
                <a:cs typeface="Consolas"/>
              </a:rPr>
              <a:t>std::cout &lt;&lt; frame;</a:t>
            </a:r>
          </a:p>
        </p:txBody>
      </p:sp>
    </p:spTree>
    <p:extLst>
      <p:ext uri="{BB962C8B-B14F-4D97-AF65-F5344CB8AC3E}">
        <p14:creationId xmlns:p14="http://schemas.microsoft.com/office/powerpoint/2010/main" val="889335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B2C7F2-D63A-4338-BF67-EA64EDF06E56}"/>
              </a:ext>
            </a:extLst>
          </p:cNvPr>
          <p:cNvSpPr>
            <a:spLocks noGrp="1"/>
          </p:cNvSpPr>
          <p:nvPr/>
        </p:nvSpPr>
        <p:spPr>
          <a:xfrm>
            <a:off x="685800" y="476250"/>
            <a:ext cx="10820400" cy="685800"/>
          </a:xfrm>
          <a:prstGeom prst="rect">
            <a:avLst/>
          </a:prstGeom>
          <a:noFill/>
          <a:ln w="0">
            <a:noFill/>
          </a:ln>
        </p:spPr>
        <p:txBody>
          <a:bodyPr>
            <a:noAutofit/>
          </a:bodyPr>
          <a:lstStyle/>
          <a:p>
            <a:pPr>
              <a:defRPr sz="3150" b="1">
                <a:solidFill>
                  <a:srgbClr val="202020"/>
                </a:solidFill>
                <a:latin typeface="Arial"/>
                <a:ea typeface="Arial"/>
                <a:cs typeface="Arial"/>
              </a:defRPr>
            </a:pPr>
            <a:r>
              <a:rPr sz="3150" b="1">
                <a:solidFill>
                  <a:srgbClr val="202020"/>
                </a:solidFill>
                <a:latin typeface="Arial"/>
                <a:ea typeface="Arial"/>
                <a:cs typeface="Arial"/>
              </a:rPr>
              <a:t>Marquee animation logic</a:t>
            </a:r>
          </a:p>
        </p:txBody>
      </p:sp>
      <p:sp>
        <p:nvSpPr>
          <p:cNvPr id="2" name="Rectangle 1">
            <a:extLst>
              <a:ext uri="{FF2B5EF4-FFF2-40B4-BE49-F238E27FC236}">
                <a16:creationId xmlns:a16="http://schemas.microsoft.com/office/drawing/2014/main" id="{A1BC1707-F5F3-4C4A-93D0-FC03091B6515}"/>
              </a:ext>
            </a:extLst>
          </p:cNvPr>
          <p:cNvSpPr>
            <a:spLocks noGrp="1"/>
          </p:cNvSpPr>
          <p:nvPr/>
        </p:nvSpPr>
        <p:spPr>
          <a:xfrm>
            <a:off x="685800" y="6429375"/>
            <a:ext cx="10820400" cy="266700"/>
          </a:xfrm>
          <a:prstGeom prst="rect">
            <a:avLst/>
          </a:prstGeom>
          <a:noFill/>
          <a:ln w="0">
            <a:noFill/>
          </a:ln>
        </p:spPr>
        <p:txBody>
          <a:bodyPr>
            <a:noAutofit/>
          </a:bodyPr>
          <a:lstStyle/>
          <a:p>
            <a:pPr>
              <a:defRPr sz="1200" b="0">
                <a:solidFill>
                  <a:srgbClr val="666666"/>
                </a:solidFill>
                <a:latin typeface="Arial"/>
                <a:ea typeface="Arial"/>
                <a:cs typeface="Arial"/>
              </a:defRPr>
            </a:pPr>
            <a:r>
              <a:rPr sz="1200" b="0">
                <a:solidFill>
                  <a:srgbClr val="666666"/>
                </a:solidFill>
                <a:latin typeface="Arial"/>
                <a:ea typeface="Arial"/>
                <a:cs typeface="Arial"/>
              </a:rPr>
              <a:t>Source: Marquee.cpp, main.cpp</a:t>
            </a:r>
          </a:p>
        </p:txBody>
      </p:sp>
      <p:sp>
        <p:nvSpPr>
          <p:cNvPr id="3" name="Rectangle 2">
            <a:extLst>
              <a:ext uri="{FF2B5EF4-FFF2-40B4-BE49-F238E27FC236}">
                <a16:creationId xmlns:a16="http://schemas.microsoft.com/office/drawing/2014/main" id="{EDDA7379-C11B-407C-AB3D-16809B7D84F2}"/>
              </a:ext>
            </a:extLst>
          </p:cNvPr>
          <p:cNvSpPr>
            <a:spLocks noGrp="1"/>
          </p:cNvSpPr>
          <p:nvPr/>
        </p:nvSpPr>
        <p:spPr>
          <a:xfrm>
            <a:off x="762000" y="1333500"/>
            <a:ext cx="10620375" cy="885825"/>
          </a:xfrm>
          <a:prstGeom prst="rect">
            <a:avLst/>
          </a:prstGeom>
          <a:noFill/>
          <a:ln w="0">
            <a:noFill/>
          </a:ln>
        </p:spPr>
        <p:txBody>
          <a:bodyPr>
            <a:noAutofit/>
          </a:bodyPr>
          <a:lstStyle/>
          <a:p>
            <a:pPr>
              <a:defRPr sz="1725" b="0">
                <a:solidFill>
                  <a:srgbClr val="202020"/>
                </a:solidFill>
                <a:latin typeface="Arial"/>
                <a:ea typeface="Arial"/>
                <a:cs typeface="Arial"/>
              </a:defRPr>
            </a:pPr>
            <a:r>
              <a:rPr sz="1725" b="0">
                <a:solidFill>
                  <a:srgbClr val="202020"/>
                </a:solidFill>
                <a:latin typeface="Arial"/>
                <a:ea typeface="Arial"/>
                <a:cs typeface="Arial"/>
              </a:rPr>
              <a:t>The marquee stores its horizontal and vertical position (x, y) and direction (vx, vy). updateMotion uses the time since the previous draw to calculate where it should move next.</a:t>
            </a:r>
          </a:p>
        </p:txBody>
      </p:sp>
      <p:sp>
        <p:nvSpPr>
          <p:cNvPr id="4" name="Rectangle 3">
            <a:extLst>
              <a:ext uri="{FF2B5EF4-FFF2-40B4-BE49-F238E27FC236}">
                <a16:creationId xmlns:a16="http://schemas.microsoft.com/office/drawing/2014/main" id="{3CFFF386-1948-4AFA-8C2C-66618BCD7BF2}"/>
              </a:ext>
            </a:extLst>
          </p:cNvPr>
          <p:cNvSpPr>
            <a:spLocks noGrp="1"/>
          </p:cNvSpPr>
          <p:nvPr/>
        </p:nvSpPr>
        <p:spPr>
          <a:xfrm>
            <a:off x="762000" y="2381250"/>
            <a:ext cx="10620375" cy="885825"/>
          </a:xfrm>
          <a:prstGeom prst="rect">
            <a:avLst/>
          </a:prstGeom>
          <a:noFill/>
          <a:ln w="0">
            <a:noFill/>
          </a:ln>
        </p:spPr>
        <p:txBody>
          <a:bodyPr>
            <a:noAutofit/>
          </a:bodyPr>
          <a:lstStyle/>
          <a:p>
            <a:pPr>
              <a:defRPr sz="1725" b="0">
                <a:solidFill>
                  <a:srgbClr val="202020"/>
                </a:solidFill>
                <a:latin typeface="Arial"/>
                <a:ea typeface="Arial"/>
                <a:cs typeface="Arial"/>
              </a:defRPr>
            </a:pPr>
            <a:r>
              <a:rPr sz="1725" b="0" dirty="0">
                <a:solidFill>
                  <a:srgbClr val="202020"/>
                </a:solidFill>
                <a:latin typeface="Arial"/>
                <a:ea typeface="Arial"/>
                <a:cs typeface="Arial"/>
              </a:rPr>
              <a:t>When the artwork reaches the left, right, top, or bottom boundary, the code keeps it inside the marquee area and reverses that direction. </a:t>
            </a:r>
            <a:r>
              <a:rPr lang="en-US" sz="1725" dirty="0">
                <a:solidFill>
                  <a:srgbClr val="202020"/>
                </a:solidFill>
                <a:latin typeface="Arial"/>
                <a:ea typeface="Arial"/>
                <a:cs typeface="Arial"/>
              </a:rPr>
              <a:t>Because of this it produces the bouncing animation.</a:t>
            </a:r>
            <a:endParaRPr sz="1725" b="0" dirty="0">
              <a:solidFill>
                <a:srgbClr val="202020"/>
              </a:solidFill>
              <a:latin typeface="Arial"/>
              <a:ea typeface="Arial"/>
              <a:cs typeface="Arial"/>
            </a:endParaRPr>
          </a:p>
        </p:txBody>
      </p:sp>
      <p:sp>
        <p:nvSpPr>
          <p:cNvPr id="5" name="Rectangle 4">
            <a:extLst>
              <a:ext uri="{FF2B5EF4-FFF2-40B4-BE49-F238E27FC236}">
                <a16:creationId xmlns:a16="http://schemas.microsoft.com/office/drawing/2014/main" id="{B9DA65F6-EECE-4ED3-872D-2A612D839511}"/>
              </a:ext>
            </a:extLst>
          </p:cNvPr>
          <p:cNvSpPr>
            <a:spLocks noGrp="1"/>
          </p:cNvSpPr>
          <p:nvPr/>
        </p:nvSpPr>
        <p:spPr>
          <a:xfrm>
            <a:off x="762000" y="3448050"/>
            <a:ext cx="10620375" cy="885825"/>
          </a:xfrm>
          <a:prstGeom prst="rect">
            <a:avLst/>
          </a:prstGeom>
          <a:noFill/>
          <a:ln w="0">
            <a:noFill/>
          </a:ln>
        </p:spPr>
        <p:txBody>
          <a:bodyPr>
            <a:noAutofit/>
          </a:bodyPr>
          <a:lstStyle/>
          <a:p>
            <a:pPr>
              <a:defRPr sz="1725" b="0">
                <a:solidFill>
                  <a:srgbClr val="202020"/>
                </a:solidFill>
                <a:latin typeface="Arial"/>
                <a:ea typeface="Arial"/>
                <a:cs typeface="Arial"/>
              </a:defRPr>
            </a:pPr>
            <a:r>
              <a:rPr sz="1725" b="0" dirty="0" err="1">
                <a:solidFill>
                  <a:srgbClr val="202020"/>
                </a:solidFill>
                <a:latin typeface="Arial"/>
                <a:ea typeface="Arial"/>
                <a:cs typeface="Arial"/>
              </a:rPr>
              <a:t>stop_marquee</a:t>
            </a:r>
            <a:r>
              <a:rPr sz="1725" b="0" dirty="0">
                <a:solidFill>
                  <a:srgbClr val="202020"/>
                </a:solidFill>
                <a:latin typeface="Arial"/>
                <a:ea typeface="Arial"/>
                <a:cs typeface="Arial"/>
              </a:rPr>
              <a:t> pauses position updates; </a:t>
            </a:r>
            <a:r>
              <a:rPr sz="1725" b="0" dirty="0" err="1">
                <a:solidFill>
                  <a:srgbClr val="202020"/>
                </a:solidFill>
                <a:latin typeface="Arial"/>
                <a:ea typeface="Arial"/>
                <a:cs typeface="Arial"/>
              </a:rPr>
              <a:t>start_marquee</a:t>
            </a:r>
            <a:r>
              <a:rPr sz="1725" b="0" dirty="0">
                <a:solidFill>
                  <a:srgbClr val="202020"/>
                </a:solidFill>
                <a:latin typeface="Arial"/>
                <a:ea typeface="Arial"/>
                <a:cs typeface="Arial"/>
              </a:rPr>
              <a:t> resumes them. </a:t>
            </a:r>
            <a:r>
              <a:rPr sz="1725" b="0" dirty="0" err="1">
                <a:solidFill>
                  <a:srgbClr val="202020"/>
                </a:solidFill>
                <a:latin typeface="Arial"/>
                <a:ea typeface="Arial"/>
                <a:cs typeface="Arial"/>
              </a:rPr>
              <a:t>set_speed</a:t>
            </a:r>
            <a:r>
              <a:rPr sz="1725" b="0" dirty="0">
                <a:solidFill>
                  <a:srgbClr val="202020"/>
                </a:solidFill>
                <a:latin typeface="Arial"/>
                <a:ea typeface="Arial"/>
                <a:cs typeface="Arial"/>
              </a:rPr>
              <a:t> changes the time between redraws in milliseconds. A larger value means fewer visible frames, while input is still checked separately.</a:t>
            </a:r>
          </a:p>
        </p:txBody>
      </p:sp>
      <p:sp>
        <p:nvSpPr>
          <p:cNvPr id="6" name="Rectangle 5">
            <a:extLst>
              <a:ext uri="{FF2B5EF4-FFF2-40B4-BE49-F238E27FC236}">
                <a16:creationId xmlns:a16="http://schemas.microsoft.com/office/drawing/2014/main" id="{D6BF10BF-7B43-4AB2-BCDD-ED415E99BBDB}"/>
              </a:ext>
            </a:extLst>
          </p:cNvPr>
          <p:cNvSpPr>
            <a:spLocks noGrp="1"/>
          </p:cNvSpPr>
          <p:nvPr/>
        </p:nvSpPr>
        <p:spPr>
          <a:xfrm>
            <a:off x="790575" y="4762500"/>
            <a:ext cx="10382250" cy="1323975"/>
          </a:xfrm>
          <a:prstGeom prst="rect">
            <a:avLst/>
          </a:prstGeom>
          <a:solidFill>
            <a:srgbClr val="F4F4F4"/>
          </a:solidFill>
          <a:ln w="0">
            <a:noFill/>
          </a:ln>
        </p:spPr>
        <p:txBody>
          <a:bodyPr>
            <a:noAutofit/>
          </a:bodyPr>
          <a:lstStyle/>
          <a:p>
            <a:pPr>
              <a:defRPr sz="1575" b="0">
                <a:solidFill>
                  <a:srgbClr val="222222"/>
                </a:solidFill>
                <a:latin typeface="Consolas"/>
                <a:ea typeface="Consolas"/>
                <a:cs typeface="Consolas"/>
              </a:defRPr>
            </a:pPr>
            <a:r>
              <a:rPr sz="1575" b="0">
                <a:solidFill>
                  <a:srgbClr val="222222"/>
                </a:solidFill>
                <a:latin typeface="Consolas"/>
                <a:ea typeface="Consolas"/>
                <a:cs typeface="Consolas"/>
              </a:rPr>
              <a:t>app.x += app.vx * H_SPEED * dt;  // 26 cells/second</a:t>
            </a:r>
          </a:p>
          <a:p>
            <a:pPr>
              <a:defRPr sz="1575" b="0">
                <a:solidFill>
                  <a:srgbClr val="222222"/>
                </a:solidFill>
                <a:latin typeface="Consolas"/>
                <a:ea typeface="Consolas"/>
                <a:cs typeface="Consolas"/>
              </a:defRPr>
            </a:pPr>
            <a:r>
              <a:rPr sz="1575" b="0">
                <a:solidFill>
                  <a:srgbClr val="222222"/>
                </a:solidFill>
                <a:latin typeface="Consolas"/>
                <a:ea typeface="Consolas"/>
                <a:cs typeface="Consolas"/>
              </a:rPr>
              <a:t>app.y += app.vy * V_SPEED * dt;  // 11 cells/second</a:t>
            </a:r>
          </a:p>
          <a:p>
            <a:pPr>
              <a:defRPr sz="1575" b="0">
                <a:solidFill>
                  <a:srgbClr val="222222"/>
                </a:solidFill>
                <a:latin typeface="Consolas"/>
                <a:ea typeface="Consolas"/>
                <a:cs typeface="Consolas"/>
              </a:defRPr>
            </a:pPr>
            <a:r>
              <a:rPr sz="1575" b="0">
                <a:solidFill>
                  <a:srgbClr val="222222"/>
                </a:solidFill>
                <a:latin typeface="Consolas"/>
                <a:ea typeface="Consolas"/>
                <a:cs typeface="Consolas"/>
              </a:rPr>
              <a:t>if (app.x &gt;= maxX) app.vx = -1;</a:t>
            </a:r>
          </a:p>
          <a:p>
            <a:pPr>
              <a:defRPr sz="1575" b="0">
                <a:solidFill>
                  <a:srgbClr val="222222"/>
                </a:solidFill>
                <a:latin typeface="Consolas"/>
                <a:ea typeface="Consolas"/>
                <a:cs typeface="Consolas"/>
              </a:defRPr>
            </a:pPr>
            <a:r>
              <a:rPr sz="1575" b="0">
                <a:solidFill>
                  <a:srgbClr val="222222"/>
                </a:solidFill>
                <a:latin typeface="Consolas"/>
                <a:ea typeface="Consolas"/>
                <a:cs typeface="Consolas"/>
              </a:rPr>
              <a:t>if (app.y &gt;= maxY) app.vy = -1;</a:t>
            </a:r>
          </a:p>
        </p:txBody>
      </p:sp>
    </p:spTree>
    <p:extLst>
      <p:ext uri="{BB962C8B-B14F-4D97-AF65-F5344CB8AC3E}">
        <p14:creationId xmlns:p14="http://schemas.microsoft.com/office/powerpoint/2010/main" val="182057464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666</Words>
  <Application>Microsoft Office PowerPoint</Application>
  <DocSecurity>0</DocSecurity>
  <PresentationFormat>Widescreen</PresentationFormat>
  <Paragraphs>41</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Consolas</vt:lpstr>
      <vt:lpstr>ChatGPT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Karl Matthew Dela Cruz</cp:lastModifiedBy>
  <cp:revision>1</cp:revision>
  <dcterms:created xsi:type="dcterms:W3CDTF">2026-09-28T07:27:07Z</dcterms:created>
  <dcterms:modified xsi:type="dcterms:W3CDTF">2026-09-28T07:29:29Z</dcterms:modified>
</cp:coreProperties>
</file>