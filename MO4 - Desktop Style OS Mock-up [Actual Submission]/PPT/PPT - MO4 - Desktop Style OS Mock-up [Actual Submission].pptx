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04505AA-C2A6-4448-B265-C1D8624F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985E763-C8B1-4C8C-B9CB-A83726D557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D921A49-846B-4764-A5BD-C281619A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77894D5-DB3F-46F4-9FBF-F19F48ABE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7F3DE8A-76E7-4591-BDDA-BF1E9B546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8D43E06-19FC-480D-AC32-CEB8006C8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4ECBFAF-1470-4413-B9CC-A4F718716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A479FE5-1A76-4A18-98DC-48E9C66B73A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9FD34EF-430B-4435-A7C0-8DE13B8F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D7AAF77-5F99-4569-A066-A86C5893F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52CC71-D3E9-4833-A59B-C4A19B5D8567}"/>
              </a:ext>
            </a:extLst>
          </p:cNvPr>
          <p:cNvSpPr>
            <a:spLocks noGrp="1"/>
          </p:cNvSpPr>
          <p:nvPr/>
        </p:nvSpPr>
        <p:spPr>
          <a:xfrm>
            <a:off x="-19050" y="0"/>
            <a:ext cx="6572250" cy="6858000"/>
          </a:xfrm>
          <a:prstGeom prst="rect">
            <a:avLst/>
          </a:prstGeom>
          <a:solidFill>
            <a:srgbClr val="07172A"/>
          </a:solidFill>
          <a:ln w="0">
            <a:noFill/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C6CDBA-80FC-48C8-A714-45E146401CA2}"/>
              </a:ext>
            </a:extLst>
          </p:cNvPr>
          <p:cNvSpPr>
            <a:spLocks noGrp="1"/>
          </p:cNvSpPr>
          <p:nvPr/>
        </p:nvSpPr>
        <p:spPr>
          <a:xfrm>
            <a:off x="723900" y="1123950"/>
            <a:ext cx="514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CSOPESY OS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B6FD6B-C3DC-404C-BE07-76B21C92880C}"/>
              </a:ext>
            </a:extLst>
          </p:cNvPr>
          <p:cNvSpPr>
            <a:spLocks noGrp="1"/>
          </p:cNvSpPr>
          <p:nvPr/>
        </p:nvSpPr>
        <p:spPr>
          <a:xfrm>
            <a:off x="762000" y="2305050"/>
            <a:ext cx="6229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100" b="0">
                <a:solidFill>
                  <a:srgbClr val="E7F6FA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100" b="0">
                <a:solidFill>
                  <a:srgbClr val="E7F6FA"/>
                </a:solidFill>
                <a:latin typeface="Segoe UI"/>
                <a:ea typeface="Segoe UI"/>
                <a:cs typeface="Segoe UI"/>
              </a:defRPr>
            </a:pPr>
            <a:r>
              <a:rPr sz="2100" b="0" dirty="0">
                <a:solidFill>
                  <a:srgbClr val="E7F6FA"/>
                </a:solidFill>
                <a:latin typeface="Segoe UI"/>
                <a:ea typeface="Segoe UI"/>
                <a:cs typeface="Segoe UI"/>
              </a:rPr>
              <a:t>Desktop-Style OS Mockup with Dear </a:t>
            </a:r>
            <a:r>
              <a:rPr sz="2100" b="0" dirty="0" err="1">
                <a:solidFill>
                  <a:srgbClr val="E7F6FA"/>
                </a:solidFill>
                <a:latin typeface="Segoe UI"/>
                <a:ea typeface="Segoe UI"/>
                <a:cs typeface="Segoe UI"/>
              </a:rPr>
              <a:t>ImGui</a:t>
            </a:r>
            <a:endParaRPr sz="2100" b="0" dirty="0">
              <a:solidFill>
                <a:srgbClr val="E7F6FA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FA684C-09D3-4419-9D91-10A78DDD3671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30C8D6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75" b="1">
                <a:solidFill>
                  <a:srgbClr val="30C8D6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30C8D6"/>
                </a:solidFill>
                <a:latin typeface="Segoe UI"/>
                <a:ea typeface="Segoe UI"/>
                <a:cs typeface="Segoe UI"/>
              </a:rPr>
              <a:t>TECHNICAL REPORT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92A746-0215-42B9-A0D7-921025CC9329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3905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Karl Matthew Dela Cruz</a:t>
            </a:r>
          </a:p>
          <a:p>
            <a: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Jose Miguel Espinosa</a:t>
            </a:r>
          </a:p>
          <a:p>
            <a: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Bon Windel Aquino</a:t>
            </a:r>
          </a:p>
          <a:p>
            <a:pPr algn="l">
              <a:defRPr sz="15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Dencel Angelo Pineda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5C9167-4162-4B17-887A-A97FCD8E3DD9}"/>
              </a:ext>
            </a:extLst>
          </p:cNvPr>
          <p:cNvSpPr>
            <a:spLocks noGrp="1"/>
          </p:cNvSpPr>
          <p:nvPr/>
        </p:nvSpPr>
        <p:spPr>
          <a:xfrm>
            <a:off x="762000" y="5943600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9DBBD0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00" b="0">
                <a:solidFill>
                  <a:srgbClr val="9DBBD0"/>
                </a:solidFill>
                <a:latin typeface="Segoe UI"/>
                <a:ea typeface="Segoe UI"/>
                <a:cs typeface="Segoe UI"/>
              </a:defRPr>
            </a:pPr>
            <a:r>
              <a:rPr sz="1200" b="0" dirty="0">
                <a:solidFill>
                  <a:srgbClr val="9DBBD0"/>
                </a:solidFill>
                <a:latin typeface="Segoe UI"/>
                <a:ea typeface="Segoe UI"/>
                <a:cs typeface="Segoe UI"/>
              </a:rPr>
              <a:t>CSOPESY </a:t>
            </a:r>
            <a:r>
              <a:rPr lang="en-PH" sz="1200" b="0" dirty="0">
                <a:solidFill>
                  <a:srgbClr val="9DBBD0"/>
                </a:solidFill>
                <a:latin typeface="Segoe UI"/>
                <a:ea typeface="Segoe UI"/>
                <a:cs typeface="Segoe UI"/>
              </a:rPr>
              <a:t>- </a:t>
            </a:r>
            <a:r>
              <a:rPr sz="1200" b="0" dirty="0">
                <a:solidFill>
                  <a:srgbClr val="9DBBD0"/>
                </a:solidFill>
                <a:latin typeface="Segoe UI"/>
                <a:ea typeface="Segoe UI"/>
                <a:cs typeface="Segoe UI"/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957836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2475D6-6C4A-4780-9428-DF81AF3288E5}"/>
              </a:ext>
            </a:extLst>
          </p:cNvPr>
          <p:cNvSpPr>
            <a:spLocks noGrp="1"/>
          </p:cNvSpPr>
          <p:nvPr/>
        </p:nvSpPr>
        <p:spPr>
          <a:xfrm>
            <a:off x="2286000" y="588645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200" b="0">
                <a:solidFill>
                  <a:srgbClr val="7FA7C0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200" b="0">
                <a:solidFill>
                  <a:srgbClr val="7FA7C0"/>
                </a:solidFill>
                <a:latin typeface="Segoe UI"/>
                <a:ea typeface="Segoe UI"/>
                <a:cs typeface="Segoe UI"/>
              </a:defRPr>
            </a:pPr>
            <a:endParaRPr sz="1200" b="0" dirty="0">
              <a:solidFill>
                <a:srgbClr val="7FA7C0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9" name="video demo">
            <a:hlinkClick r:id="" action="ppaction://media"/>
            <a:extLst>
              <a:ext uri="{FF2B5EF4-FFF2-40B4-BE49-F238E27FC236}">
                <a16:creationId xmlns:a16="http://schemas.microsoft.com/office/drawing/2014/main" id="{34E22CA0-6696-FE65-C909-9D626AB04E5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1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39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4E46238-EF41-4360-803E-B8314EEC7BA4}"/>
              </a:ext>
            </a:extLst>
          </p:cNvPr>
          <p:cNvCxnSpPr>
            <a:stCxn id="6" idx="1"/>
            <a:endCxn id="8" idx="0"/>
          </p:cNvCxnSpPr>
          <p:nvPr/>
        </p:nvCxnSpPr>
        <p:spPr>
          <a:xfrm flipH="1">
            <a:off x="6096000" y="1866900"/>
            <a:ext cx="3095625" cy="1104900"/>
          </a:xfrm>
          <a:prstGeom prst="bentConnector4">
            <a:avLst>
              <a:gd name="adj1" fmla="val 7385"/>
              <a:gd name="adj2" fmla="val 79310"/>
            </a:avLst>
          </a:prstGeom>
          <a:ln w="19050">
            <a:solidFill>
              <a:srgbClr val="7C90A6"/>
            </a:solidFill>
            <a:prstDash val="dash"/>
            <a:tailEnd type="arrow" w="sm" len="sm"/>
          </a:ln>
        </p:spPr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6329843-5B98-4254-A1E0-DC535C1A194E}"/>
              </a:ext>
            </a:extLst>
          </p:cNvPr>
          <p:cNvCxnSpPr>
            <a:stCxn id="9" idx="2"/>
            <a:endCxn id="10" idx="3"/>
          </p:cNvCxnSpPr>
          <p:nvPr/>
        </p:nvCxnSpPr>
        <p:spPr>
          <a:xfrm flipH="1">
            <a:off x="8096250" y="4267200"/>
            <a:ext cx="1905000" cy="1238250"/>
          </a:xfrm>
          <a:prstGeom prst="bentConnector5">
            <a:avLst>
              <a:gd name="adj1" fmla="val 0"/>
              <a:gd name="adj2" fmla="val 18462"/>
              <a:gd name="adj3" fmla="val 88000"/>
            </a:avLst>
          </a:prstGeom>
          <a:ln w="28575">
            <a:solidFill>
              <a:srgbClr val="2D90D7"/>
            </a:solidFill>
            <a:prstDash val="solid"/>
            <a:tailEnd type="arrow" w="med" len="med"/>
          </a:ln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965B90-91A5-46E5-8A0A-18FA68F7BD8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543800" y="3619500"/>
            <a:ext cx="1009650" cy="0"/>
          </a:xfrm>
          <a:prstGeom prst="straightConnector1">
            <a:avLst/>
          </a:prstGeom>
          <a:ln w="28575">
            <a:solidFill>
              <a:srgbClr val="2D90D7"/>
            </a:solidFill>
            <a:prstDash val="solid"/>
            <a:tailEnd type="arrow" w="med" len="med"/>
          </a:ln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E039C0-6C1D-498F-A8CE-791BEEB48A65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638550" y="3619500"/>
            <a:ext cx="1009650" cy="0"/>
          </a:xfrm>
          <a:prstGeom prst="straightConnector1">
            <a:avLst/>
          </a:prstGeom>
          <a:ln w="28575">
            <a:solidFill>
              <a:srgbClr val="2D90D7"/>
            </a:solidFill>
            <a:prstDash val="solid"/>
            <a:tailEnd type="arrow" w="med" len="med"/>
          </a:ln>
        </p:spPr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03774E5-913A-41F2-9AD7-33B3FC999E6F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2190750" y="2152650"/>
            <a:ext cx="3905250" cy="81915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2D90D7"/>
            </a:solidFill>
            <a:prstDash val="solid"/>
            <a:tailEnd type="arrow" w="med" len="med"/>
          </a:ln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4B88267-1BCC-4900-8CCB-A85EA960B35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D90D7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C60A02-D803-4674-8387-F0E42000E31D}"/>
              </a:ext>
            </a:extLst>
          </p:cNvPr>
          <p:cNvSpPr>
            <a:spLocks noGrp="1"/>
          </p:cNvSpPr>
          <p:nvPr/>
        </p:nvSpPr>
        <p:spPr>
          <a:xfrm>
            <a:off x="1371600" y="323850"/>
            <a:ext cx="7886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lang="en-PH" sz="2550" b="1" dirty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Architectural Diagram</a:t>
            </a:r>
            <a:endParaRPr sz="2550" b="1" dirty="0">
              <a:solidFill>
                <a:srgbClr val="13223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B73617-A413-454F-893E-4778A1A9CAFB}"/>
              </a:ext>
            </a:extLst>
          </p:cNvPr>
          <p:cNvSpPr>
            <a:spLocks noGrp="1"/>
          </p:cNvSpPr>
          <p:nvPr/>
        </p:nvSpPr>
        <p:spPr>
          <a:xfrm>
            <a:off x="1371600" y="781050"/>
            <a:ext cx="941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endParaRPr sz="1350" b="0" dirty="0">
              <a:solidFill>
                <a:srgbClr val="5D6C8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D8EEF9-B9FB-4630-8DA4-AA7364C42F13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19050"/>
          </a:xfrm>
          <a:prstGeom prst="rect">
            <a:avLst/>
          </a:prstGeom>
          <a:solidFill>
            <a:srgbClr val="BDD0E2"/>
          </a:solidFill>
          <a:ln w="0">
            <a:noFill/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D5CBF4-0EE6-47E3-A587-49C793048CD9}"/>
              </a:ext>
            </a:extLst>
          </p:cNvPr>
          <p:cNvSpPr>
            <a:spLocks noGrp="1"/>
          </p:cNvSpPr>
          <p:nvPr/>
        </p:nvSpPr>
        <p:spPr>
          <a:xfrm>
            <a:off x="4095750" y="1333500"/>
            <a:ext cx="4000500" cy="819150"/>
          </a:xfrm>
          <a:prstGeom prst="roundRect">
            <a:avLst>
              <a:gd name="adj" fmla="val 13953"/>
            </a:avLst>
          </a:prstGeom>
          <a:solidFill>
            <a:srgbClr val="132238"/>
          </a:solidFill>
          <a:ln w="0">
            <a:noFill/>
            <a:prstDash val="solid"/>
          </a:ln>
        </p:spPr>
        <p:txBody>
          <a:bodyPr lIns="171450" tIns="133350" rIns="171450" bIns="133350" anchor="ctr">
            <a:noAutofit/>
          </a:bodyPr>
          <a:lstStyle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GLFW + OpenGL Host</a:t>
            </a:r>
          </a:p>
          <a:p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events, window, graphics context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3CCD7A-A0AE-4687-BD26-41595E50B7F5}"/>
              </a:ext>
            </a:extLst>
          </p:cNvPr>
          <p:cNvSpPr>
            <a:spLocks noGrp="1"/>
          </p:cNvSpPr>
          <p:nvPr/>
        </p:nvSpPr>
        <p:spPr>
          <a:xfrm>
            <a:off x="9191625" y="1333500"/>
            <a:ext cx="2238375" cy="1066800"/>
          </a:xfrm>
          <a:prstGeom prst="roundRect">
            <a:avLst>
              <a:gd name="adj" fmla="val 10714"/>
            </a:avLst>
          </a:prstGeom>
          <a:solidFill>
            <a:srgbClr val="E8F1FA"/>
          </a:solidFill>
          <a:ln w="19050">
            <a:solidFill>
              <a:srgbClr val="2D90D7"/>
            </a:solidFill>
            <a:prstDash val="solid"/>
          </a:ln>
        </p:spPr>
        <p:txBody>
          <a:bodyPr lIns="171450" tIns="133350" rIns="171450" bIns="133350" anchor="ctr">
            <a:noAutofit/>
          </a:bodyPr>
          <a:lstStyle>
            <a:def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OsState</a:t>
            </a:r>
          </a:p>
          <a:p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boot phase</a:t>
            </a:r>
          </a:p>
          <a:p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window flags</a:t>
            </a:r>
          </a:p>
          <a:p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shutdown request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365EB5-6889-42BF-8528-4EDF66087478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2895600" cy="1295400"/>
          </a:xfrm>
          <a:prstGeom prst="roundRect">
            <a:avLst>
              <a:gd name="adj" fmla="val 8824"/>
            </a:avLst>
          </a:prstGeom>
          <a:solidFill>
            <a:srgbClr val="0F4561"/>
          </a:solidFill>
          <a:ln w="0">
            <a:noFill/>
            <a:prstDash val="solid"/>
          </a:ln>
        </p:spPr>
        <p:txBody>
          <a:bodyPr lIns="171450" tIns="133350" rIns="171450" bIns="133350" anchor="ctr">
            <a:noAutofit/>
          </a:bodyPr>
          <a:lstStyle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  Desktop</a:t>
            </a:r>
          </a:p>
          <a:p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wallpaper, clock, PWR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2DB6F1-1CB4-4FE6-9199-BA9A6785E78E}"/>
              </a:ext>
            </a:extLst>
          </p:cNvPr>
          <p:cNvSpPr>
            <a:spLocks noGrp="1"/>
          </p:cNvSpPr>
          <p:nvPr/>
        </p:nvSpPr>
        <p:spPr>
          <a:xfrm>
            <a:off x="4648200" y="2971800"/>
            <a:ext cx="2895600" cy="1295400"/>
          </a:xfrm>
          <a:prstGeom prst="roundRect">
            <a:avLst>
              <a:gd name="adj" fmla="val 8824"/>
            </a:avLst>
          </a:prstGeom>
          <a:solidFill>
            <a:srgbClr val="176788"/>
          </a:solidFill>
          <a:ln w="0">
            <a:noFill/>
            <a:prstDash val="solid"/>
          </a:ln>
        </p:spPr>
        <p:txBody>
          <a:bodyPr lIns="171450" tIns="133350" rIns="171450" bIns="133350" anchor="ctr">
            <a:noAutofit/>
          </a:bodyPr>
          <a:lstStyle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  Application Windows</a:t>
            </a:r>
          </a:p>
          <a:p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Files, Settings, Task Manager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B6C2DB9-4A46-4C30-9B73-040BEAC4B312}"/>
              </a:ext>
            </a:extLst>
          </p:cNvPr>
          <p:cNvSpPr>
            <a:spLocks noGrp="1"/>
          </p:cNvSpPr>
          <p:nvPr/>
        </p:nvSpPr>
        <p:spPr>
          <a:xfrm>
            <a:off x="8553450" y="2971800"/>
            <a:ext cx="2895600" cy="1295400"/>
          </a:xfrm>
          <a:prstGeom prst="roundRect">
            <a:avLst>
              <a:gd name="adj" fmla="val 8824"/>
            </a:avLst>
          </a:prstGeom>
          <a:solidFill>
            <a:srgbClr val="1E7FA0"/>
          </a:solidFill>
          <a:ln w="0">
            <a:noFill/>
            <a:prstDash val="solid"/>
          </a:ln>
        </p:spPr>
        <p:txBody>
          <a:bodyPr lIns="171450" tIns="133350" rIns="171450" bIns="133350" anchor="ctr">
            <a:noAutofit/>
          </a:bodyPr>
          <a:lstStyle>
            <a:def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  Taskbar</a:t>
            </a:r>
          </a:p>
          <a:p>
            <a:pPr algn="ctr">
              <a:defRPr sz="13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fixed foreground controls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8B0D21-859D-4ACC-9CF3-859912D784CF}"/>
              </a:ext>
            </a:extLst>
          </p:cNvPr>
          <p:cNvSpPr>
            <a:spLocks noGrp="1"/>
          </p:cNvSpPr>
          <p:nvPr/>
        </p:nvSpPr>
        <p:spPr>
          <a:xfrm>
            <a:off x="4095750" y="5067300"/>
            <a:ext cx="40005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BDD0E2"/>
            </a:solidFill>
            <a:prstDash val="solid"/>
          </a:ln>
        </p:spPr>
        <p:txBody>
          <a:bodyPr lIns="171450" tIns="133350" rIns="171450" bIns="133350" anchor="ctr">
            <a:noAutofit/>
          </a:bodyPr>
          <a:lstStyle>
            <a:def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Dear ImGui Draw Data</a:t>
            </a:r>
          </a:p>
          <a:p>
            <a:pPr algn="ctr">
              <a:defRPr sz="1350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OpenGL renderer presents the completed frame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612ED6-B684-4BD9-B406-A43E622DC84E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75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975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r>
              <a:rPr lang="en-US" sz="975" b="0" dirty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Source: </a:t>
            </a:r>
            <a:r>
              <a:rPr lang="en-US" sz="975" b="0" dirty="0" err="1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src</a:t>
            </a:r>
            <a:r>
              <a:rPr lang="en-US" sz="975" b="0" dirty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/main.cpp and </a:t>
            </a:r>
            <a:r>
              <a:rPr lang="en-US" sz="975" b="0" dirty="0" err="1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src</a:t>
            </a:r>
            <a:r>
              <a:rPr lang="en-US" sz="975" b="0" dirty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/</a:t>
            </a:r>
            <a:r>
              <a:rPr lang="en-US" sz="975" b="0" dirty="0" err="1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OsState.h</a:t>
            </a:r>
            <a:endParaRPr lang="en-US" sz="975" b="0" dirty="0">
              <a:solidFill>
                <a:srgbClr val="5D6C80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1246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4502EE9-A70F-4F38-A49C-E2950A56E91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D90D7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504033-E67A-48D4-8E0A-F0B309732491}"/>
              </a:ext>
            </a:extLst>
          </p:cNvPr>
          <p:cNvSpPr>
            <a:spLocks noGrp="1"/>
          </p:cNvSpPr>
          <p:nvPr/>
        </p:nvSpPr>
        <p:spPr>
          <a:xfrm>
            <a:off x="1371600" y="323850"/>
            <a:ext cx="7886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lang="en-PH" sz="2550" dirty="0">
                <a:solidFill>
                  <a:srgbClr val="132238"/>
                </a:solidFill>
                <a:latin typeface="Segoe UI"/>
              </a:rPr>
              <a:t>Code Snippets</a:t>
            </a:r>
            <a:endParaRPr sz="2550" b="1" dirty="0">
              <a:solidFill>
                <a:srgbClr val="13223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BB5BC6-FE88-4282-B603-8BB5E2DE8454}"/>
              </a:ext>
            </a:extLst>
          </p:cNvPr>
          <p:cNvSpPr>
            <a:spLocks noGrp="1"/>
          </p:cNvSpPr>
          <p:nvPr/>
        </p:nvSpPr>
        <p:spPr>
          <a:xfrm>
            <a:off x="1371600" y="781050"/>
            <a:ext cx="941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endParaRPr sz="1350" b="0" dirty="0">
              <a:solidFill>
                <a:srgbClr val="5D6C8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74256-8740-4B35-9429-21585EA3A8D5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10820400" cy="19050"/>
          </a:xfrm>
          <a:prstGeom prst="rect">
            <a:avLst/>
          </a:prstGeom>
          <a:solidFill>
            <a:srgbClr val="BDD0E2"/>
          </a:solidFill>
          <a:ln w="0">
            <a:noFill/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54C511-920C-47D0-83F0-C692787EFE7B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4572000"/>
          </a:xfrm>
          <a:prstGeom prst="roundRect">
            <a:avLst>
              <a:gd name="adj" fmla="val 2500"/>
            </a:avLst>
          </a:prstGeom>
          <a:solidFill>
            <a:srgbClr val="101923"/>
          </a:solidFill>
          <a:ln w="0">
            <a:noFill/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789694-E97A-4C93-BCAC-572DD20ECCFB}"/>
              </a:ext>
            </a:extLst>
          </p:cNvPr>
          <p:cNvSpPr>
            <a:spLocks noGrp="1"/>
          </p:cNvSpPr>
          <p:nvPr/>
        </p:nvSpPr>
        <p:spPr>
          <a:xfrm>
            <a:off x="6153150" y="1714500"/>
            <a:ext cx="9525" cy="3810000"/>
          </a:xfrm>
          <a:prstGeom prst="rect">
            <a:avLst/>
          </a:prstGeom>
          <a:solidFill>
            <a:srgbClr val="33485D"/>
          </a:solidFill>
          <a:ln w="0">
            <a:noFill/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3D7B57-B4D2-4E31-8E49-6A946DB7A3F8}"/>
              </a:ext>
            </a:extLst>
          </p:cNvPr>
          <p:cNvSpPr>
            <a:spLocks noGrp="1"/>
          </p:cNvSpPr>
          <p:nvPr/>
        </p:nvSpPr>
        <p:spPr>
          <a:xfrm>
            <a:off x="971550" y="15811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30C8D6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275" b="1">
                <a:solidFill>
                  <a:srgbClr val="30C8D6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30C8D6"/>
                </a:solidFill>
                <a:latin typeface="Consolas"/>
                <a:ea typeface="Consolas"/>
                <a:cs typeface="Consolas"/>
              </a:rPr>
              <a:t>src/main.cpp · compositor loop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9D4CE7-E36F-475B-BF44-020DBD19F4D8}"/>
              </a:ext>
            </a:extLst>
          </p:cNvPr>
          <p:cNvSpPr>
            <a:spLocks noGrp="1"/>
          </p:cNvSpPr>
          <p:nvPr/>
        </p:nvSpPr>
        <p:spPr>
          <a:xfrm>
            <a:off x="971550" y="1981200"/>
            <a:ext cx="485775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while (!state.shutdownRequested) {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glfwPollEvents();</a:t>
            </a:r>
          </a:p>
          <a:p>
            <a:endParaRPr sz="1275" b="0">
              <a:solidFill>
                <a:srgbClr val="D6E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if (glfwWindowShouldClose(window)) {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glfwSetWindowShouldClose(window, GLFW_FALSE);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endParaRPr sz="1275" b="0">
              <a:solidFill>
                <a:srgbClr val="D6E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Desktop::Render(state);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if (state.showFileExplorer)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FileExplorer::Render(state);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if (state.showSettings)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Settings::Render(state);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if (state.showTaskManager)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TaskManager::Render(state);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Taskbar::Render(state);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17BAA9-E361-41D8-82A6-200333E81029}"/>
              </a:ext>
            </a:extLst>
          </p:cNvPr>
          <p:cNvSpPr>
            <a:spLocks noGrp="1"/>
          </p:cNvSpPr>
          <p:nvPr/>
        </p:nvSpPr>
        <p:spPr>
          <a:xfrm>
            <a:off x="971550" y="54673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00" b="0">
                <a:solidFill>
                  <a:srgbClr val="43D9A3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200" b="0">
                <a:solidFill>
                  <a:srgbClr val="43D9A3"/>
                </a:solidFill>
                <a:latin typeface="Segoe UI"/>
                <a:ea typeface="Segoe UI"/>
                <a:cs typeface="Segoe UI"/>
              </a:defRPr>
            </a:pPr>
            <a:endParaRPr sz="1200" b="0" dirty="0">
              <a:solidFill>
                <a:srgbClr val="43D9A3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228D29-28D5-45DC-B442-95EC5D0E9F44}"/>
              </a:ext>
            </a:extLst>
          </p:cNvPr>
          <p:cNvSpPr>
            <a:spLocks noGrp="1"/>
          </p:cNvSpPr>
          <p:nvPr/>
        </p:nvSpPr>
        <p:spPr>
          <a:xfrm>
            <a:off x="6496050" y="15811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1">
                <a:solidFill>
                  <a:srgbClr val="FFC857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275" b="1">
                <a:solidFill>
                  <a:srgbClr val="FFC857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FC857"/>
                </a:solidFill>
                <a:latin typeface="Consolas"/>
                <a:ea typeface="Consolas"/>
                <a:cs typeface="Consolas"/>
              </a:rPr>
              <a:t>src/Desktop.cpp · controlled shutdown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EADF81-7406-438B-9A7F-798CE16B434C}"/>
              </a:ext>
            </a:extLst>
          </p:cNvPr>
          <p:cNvSpPr>
            <a:spLocks noGrp="1"/>
          </p:cNvSpPr>
          <p:nvPr/>
        </p:nvSpPr>
        <p:spPr>
          <a:xfrm>
            <a:off x="6496050" y="1981200"/>
            <a:ext cx="43815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defPPr>
          </a:lstStyle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if (ImGui::Button("PWR", btnSize)) {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ImGui::OpenPopup("Shut Down?");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275" b="0">
              <a:solidFill>
                <a:srgbClr val="D6E2EE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if (ImGui::Button("Shut Down",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              ImVec2(120, 0))) {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state.shutdownRequested = true;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    ImGui::CloseCurrentPopup();</a:t>
            </a:r>
          </a:p>
          <a:p>
            <a:pPr algn="l">
              <a:defRPr sz="1275" b="0">
                <a:solidFill>
                  <a:srgbClr val="D6E2EE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6E2EE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C682A6-020D-4DB3-B509-08BAE57B2816}"/>
              </a:ext>
            </a:extLst>
          </p:cNvPr>
          <p:cNvSpPr>
            <a:spLocks noGrp="1"/>
          </p:cNvSpPr>
          <p:nvPr/>
        </p:nvSpPr>
        <p:spPr>
          <a:xfrm>
            <a:off x="6496050" y="4629150"/>
            <a:ext cx="42862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9DBBD0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0">
                <a:solidFill>
                  <a:srgbClr val="9DBBD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9DBBD0"/>
                </a:solidFill>
                <a:latin typeface="Segoe UI"/>
                <a:ea typeface="Segoe UI"/>
                <a:cs typeface="Segoe UI"/>
              </a:rPr>
              <a:t>The native title-bar close request is cleared in the frame loop. Only the confirmed PWR action sets shutdownRequested.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0A965-97F6-4181-817C-0A937AEE93E2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75" b="0">
                <a:solidFill>
                  <a:srgbClr val="6E8094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975" b="0">
                <a:solidFill>
                  <a:srgbClr val="6E8094"/>
                </a:solidFill>
                <a:latin typeface="Segoe UI"/>
                <a:ea typeface="Segoe UI"/>
                <a:cs typeface="Segoe UI"/>
              </a:defRPr>
            </a:pPr>
            <a:endParaRPr sz="975" b="0" dirty="0">
              <a:solidFill>
                <a:srgbClr val="6E8094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735773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FA8F7FC-6C05-4A95-991C-EE6D32D9C8F0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D90D7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43BFA3-2100-4A57-B668-F638D8C0DC3A}"/>
              </a:ext>
            </a:extLst>
          </p:cNvPr>
          <p:cNvSpPr>
            <a:spLocks noGrp="1"/>
          </p:cNvSpPr>
          <p:nvPr/>
        </p:nvSpPr>
        <p:spPr>
          <a:xfrm>
            <a:off x="1371600" y="323850"/>
            <a:ext cx="7886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255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lang="en-PH" sz="2550" b="1" dirty="0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Written Discussion on our Desktop-Style OS Design</a:t>
            </a:r>
            <a:endParaRPr sz="2550" b="1" dirty="0">
              <a:solidFill>
                <a:srgbClr val="13223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F50A78-0AA1-41FE-8246-0E642F8D0B87}"/>
              </a:ext>
            </a:extLst>
          </p:cNvPr>
          <p:cNvSpPr>
            <a:spLocks noGrp="1"/>
          </p:cNvSpPr>
          <p:nvPr/>
        </p:nvSpPr>
        <p:spPr>
          <a:xfrm>
            <a:off x="1371600" y="781050"/>
            <a:ext cx="941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endParaRPr sz="1350" b="0" dirty="0">
              <a:solidFill>
                <a:srgbClr val="5D6C8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6BA4FC-514E-4976-8B9A-2E842E8868C6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19050"/>
          </a:xfrm>
          <a:prstGeom prst="rect">
            <a:avLst/>
          </a:prstGeom>
          <a:solidFill>
            <a:srgbClr val="BDD0E2"/>
          </a:solidFill>
          <a:ln w="0">
            <a:noFill/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79934B-CD75-4A33-812A-9FF8651A8748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800" b="1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Design decisions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0108D5-54DB-48E5-92C2-4080E111BA8A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4476750" cy="390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defPPr>
          </a:lstStyle>
          <a:p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425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The desktop fills the viewport and draws a gradient wallpaper, soft patterns, the live clock, and PWR control every frame.</a:t>
            </a:r>
          </a:p>
          <a:p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425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OsState stores the boot phase, open-window flags, and shutdown request so every screen reads the same state.</a:t>
            </a:r>
          </a:p>
          <a:p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425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The taskbar toggles File Explorer, Settings, and Task Manager while active indicators show which windows are open.</a:t>
            </a:r>
          </a:p>
          <a:p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425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Task Manager uses a sortable Dear ImGui table with dummy process, CPU, and memory values.</a:t>
            </a:r>
          </a:p>
          <a:p>
            <a:pPr marL="228600" indent="-114300" algn="l">
              <a:spcAft>
                <a:spcPts val="1200"/>
              </a:spcAft>
              <a:buChar char="•"/>
              <a:defRPr sz="1425" b="0">
                <a:solidFill>
                  <a:srgbClr val="132238"/>
                </a:solidFill>
                <a:latin typeface="Segoe UI"/>
                <a:ea typeface="Segoe UI"/>
                <a:cs typeface="Segoe UI"/>
              </a:defRPr>
            </a:pPr>
            <a:r>
              <a:rPr sz="1425">
                <a:solidFill>
                  <a:srgbClr val="132238"/>
                </a:solidFill>
                <a:latin typeface="Segoe UI"/>
                <a:ea typeface="Segoe UI"/>
                <a:cs typeface="Segoe UI"/>
              </a:rPr>
              <a:t>The compositor draws the desktop first, application windows next, and the taskbar last. A confirmed PWR action ends the loop.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89F513-09D5-4D6B-950F-3BB7C34C9D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" r="8"/>
          <a:stretch>
            <a:fillRect/>
          </a:stretch>
        </p:blipFill>
        <p:spPr>
          <a:xfrm>
            <a:off x="5676900" y="1428750"/>
            <a:ext cx="5829300" cy="31337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49887C-DDC0-4995-9E7C-E78E70F4BDCB}"/>
              </a:ext>
            </a:extLst>
          </p:cNvPr>
          <p:cNvSpPr>
            <a:spLocks noGrp="1"/>
          </p:cNvSpPr>
          <p:nvPr/>
        </p:nvSpPr>
        <p:spPr>
          <a:xfrm>
            <a:off x="5676900" y="1428750"/>
            <a:ext cx="5829300" cy="3133725"/>
          </a:xfrm>
          <a:prstGeom prst="rect">
            <a:avLst/>
          </a:prstGeom>
          <a:noFill/>
          <a:ln w="19050">
            <a:solidFill>
              <a:srgbClr val="BDD0E2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8871BE-E9C4-4CB0-8D45-013973FFFF60}"/>
              </a:ext>
            </a:extLst>
          </p:cNvPr>
          <p:cNvSpPr>
            <a:spLocks noGrp="1"/>
          </p:cNvSpPr>
          <p:nvPr/>
        </p:nvSpPr>
        <p:spPr>
          <a:xfrm>
            <a:off x="5676900" y="48196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1">
                <a:solidFill>
                  <a:srgbClr val="2D90D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2D90D7"/>
                </a:solidFill>
                <a:latin typeface="Segoe UI"/>
                <a:ea typeface="Segoe UI"/>
                <a:cs typeface="Segoe UI"/>
              </a:rPr>
              <a:t>Runtime composition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7A2361-F8AD-482A-8D0C-CE243D823BF1}"/>
              </a:ext>
            </a:extLst>
          </p:cNvPr>
          <p:cNvSpPr>
            <a:spLocks noGrp="1"/>
          </p:cNvSpPr>
          <p:nvPr/>
        </p:nvSpPr>
        <p:spPr>
          <a:xfrm>
            <a:off x="5676900" y="5162550"/>
            <a:ext cx="5829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l">
              <a:defRPr sz="1350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The screenshot shows independent ImGui windows layered over the desktop while the fixed taskbar stays in the foreground.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A6A3A9-A025-40FE-B09D-207402AFE3AB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975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defPPr>
          </a:lstStyle>
          <a:p>
            <a:pPr algn="r">
              <a:defRPr sz="975" b="0">
                <a:solidFill>
                  <a:srgbClr val="5D6C80"/>
                </a:solidFill>
                <a:latin typeface="Segoe UI"/>
                <a:ea typeface="Segoe UI"/>
                <a:cs typeface="Segoe UI"/>
              </a:defRPr>
            </a:pPr>
            <a:r>
              <a:rPr sz="975" b="0" dirty="0">
                <a:solidFill>
                  <a:srgbClr val="5D6C80"/>
                </a:solidFill>
                <a:latin typeface="Segoe UI"/>
                <a:ea typeface="Segoe UI"/>
                <a:cs typeface="Segoe UI"/>
              </a:rPr>
              <a:t>Runtime view captured from build/csopesy_os.exe</a:t>
            </a:r>
          </a:p>
        </p:txBody>
      </p:sp>
    </p:spTree>
    <p:extLst>
      <p:ext uri="{BB962C8B-B14F-4D97-AF65-F5344CB8AC3E}">
        <p14:creationId xmlns:p14="http://schemas.microsoft.com/office/powerpoint/2010/main" val="19346594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412</Words>
  <Application>Microsoft Office PowerPoint</Application>
  <DocSecurity>0</DocSecurity>
  <PresentationFormat>Widescreen</PresentationFormat>
  <Paragraphs>66</Paragraphs>
  <Slides>5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Consolas</vt:lpstr>
      <vt:lpstr>Segoe UI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Jose Miguel  Z. Espinosa</cp:lastModifiedBy>
  <cp:revision>3</cp:revision>
  <dcterms:created xsi:type="dcterms:W3CDTF">2026-10-12T03:02:24Z</dcterms:created>
  <dcterms:modified xsi:type="dcterms:W3CDTF">2026-10-12T15:00:09Z</dcterms:modified>
</cp:coreProperties>
</file>