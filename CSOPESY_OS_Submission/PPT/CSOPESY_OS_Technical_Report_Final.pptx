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8a66866ad541b0" /><Relationship Type="http://schemas.openxmlformats.org/officeDocument/2006/relationships/extended-properties" Target="/docProps/app.xml" Id="R04236b4e16834a72" /><Relationship Type="http://schemas.openxmlformats.org/officeDocument/2006/relationships/officeDocument" Target="/ppt/presentation.xml" Id="Re5e6eabd0b1845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7081ab3c6c498c"/>
  </p:sldMasterIdLst>
  <p:notesMasterIdLst>
    <p:notesMasterId xmlns:r="http://schemas.openxmlformats.org/officeDocument/2006/relationships" r:id="R183e0b2c96c7429a"/>
  </p:notesMasterIdLst>
  <p:sldIdLst>
    <p:sldId xmlns:r="http://schemas.openxmlformats.org/officeDocument/2006/relationships" id="256" r:id="Ref31b63ee6d04105"/>
    <p:sldId xmlns:r="http://schemas.openxmlformats.org/officeDocument/2006/relationships" id="257" r:id="R2b4fd334e684484c"/>
    <p:sldId xmlns:r="http://schemas.openxmlformats.org/officeDocument/2006/relationships" id="258" r:id="Rbea74e79c2b14367"/>
    <p:sldId xmlns:r="http://schemas.openxmlformats.org/officeDocument/2006/relationships" id="259" r:id="R0202b65192a446ff"/>
    <p:sldId xmlns:r="http://schemas.openxmlformats.org/officeDocument/2006/relationships" id="260" r:id="Rfd29d8438b8f44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78314b41584900" /><Relationship Type="http://schemas.openxmlformats.org/officeDocument/2006/relationships/slideMaster" Target="/ppt/slideMasters/slideMaster1.xml" Id="R6e7081ab3c6c498c" /><Relationship Type="http://schemas.openxmlformats.org/officeDocument/2006/relationships/notesMaster" Target="/ppt/notesMasters/notesMaster1.xml" Id="R183e0b2c96c7429a" /><Relationship Type="http://schemas.openxmlformats.org/officeDocument/2006/relationships/presProps" Target="/ppt/presProps.xml" Id="R407c6778eb3c4474" /><Relationship Type="http://schemas.openxmlformats.org/officeDocument/2006/relationships/tableStyles" Target="/ppt/tableStyles.xml" Id="R17db8b6ee7b44755" /><Relationship Type="http://schemas.openxmlformats.org/officeDocument/2006/relationships/slide" Target="/ppt/slides/slide1.xml" Id="Ref31b63ee6d04105" /><Relationship Type="http://schemas.openxmlformats.org/officeDocument/2006/relationships/slide" Target="/ppt/slides/slide2.xml" Id="R2b4fd334e684484c" /><Relationship Type="http://schemas.openxmlformats.org/officeDocument/2006/relationships/slide" Target="/ppt/slides/slide3.xml" Id="Rbea74e79c2b14367" /><Relationship Type="http://schemas.openxmlformats.org/officeDocument/2006/relationships/slide" Target="/ppt/slides/slide4.xml" Id="R0202b65192a446ff" /><Relationship Type="http://schemas.openxmlformats.org/officeDocument/2006/relationships/slide" Target="/ppt/slides/slide5.xml" Id="Rfd29d8438b8f44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055c6b86524c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ae079225f041b5" /><Relationship Type="http://schemas.openxmlformats.org/officeDocument/2006/relationships/notesMaster" Target="/ppt/notesMasters/notesMaster1.xml" Id="Rec1a8d2077e042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73acec75974171" /><Relationship Type="http://schemas.openxmlformats.org/officeDocument/2006/relationships/notesMaster" Target="/ppt/notesMasters/notesMaster1.xml" Id="R3c4a1dc0061e47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6302266c624316" /><Relationship Type="http://schemas.openxmlformats.org/officeDocument/2006/relationships/notesMaster" Target="/ppt/notesMasters/notesMaster1.xml" Id="Rfa5047f3dc7949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f7752119d34dff" /><Relationship Type="http://schemas.openxmlformats.org/officeDocument/2006/relationships/notesMaster" Target="/ppt/notesMasters/notesMaster1.xml" Id="R7ae0ae5f982a4d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ff035296804932" /><Relationship Type="http://schemas.openxmlformats.org/officeDocument/2006/relationships/notesMaster" Target="/ppt/notesMasters/notesMaster1.xml" Id="R2d6679e11ea54f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Runtime screenshot captured from the project's csopesy_os executable on October 12,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the placeholder with the final embedded MP4. Keep the recording seamless and show the IDE Run/Debug action, the UI walkthrough, and PWR shutdown.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derived from src/main.cpp and src/OsState.h. The compositor renders the desktop first, application windows second, and the taskbar last before Dear ImGui submits draw data to OpenGL.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excerpts from src/main.cpp and src/Desktop.cpp. The frame loop preserves compositor ordering and blocks the native title-bar close action. The PWR confirmation sets the shared shutdown flag.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 was captured from the project's csopesy_os executable on October 12, 2026. Design details are based on src/Desktop.cpp, src/Taskbar.cpp, src/OsState.h, and the application sources under src/apps/.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f7dcceb734f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38128f435241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6899ea88047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a0fc8206d42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0ee21db8e42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a2754288547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4505AA-C2A6-4448-B265-C1D8624F2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985E763-C8B1-4C8C-B9CB-A83726D557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921A49-846B-4764-A5BD-C281619AA0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7894D5-DB3F-46F4-9FBF-F19F48ABE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F3DE8A-76E7-4591-BDDA-BF1E9B5467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D43E06-19FC-480D-AC32-CEB8006C8D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ECBFAF-1470-4413-B9CC-A4F718716F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479FE5-1A76-4A18-98DC-48E9C66B73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FD34EF-430B-4435-A7C0-8DE13B8F92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7AAF77-5F99-4569-A066-A86C5893F7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d4d148e7cd454e" /><Relationship Type="http://schemas.openxmlformats.org/officeDocument/2006/relationships/slideLayout" Target="/ppt/slideLayouts/slideLayout1.xml" Id="R17baccd7e9e34e2d" /><Relationship Type="http://schemas.openxmlformats.org/officeDocument/2006/relationships/slideLayout" Target="/ppt/slideLayouts/slideLayout2.xml" Id="R88278dfbefcc4333" /><Relationship Type="http://schemas.openxmlformats.org/officeDocument/2006/relationships/slideLayout" Target="/ppt/slideLayouts/slideLayout3.xml" Id="Rbdff0e5717ab4ffa" /><Relationship Type="http://schemas.openxmlformats.org/officeDocument/2006/relationships/slideLayout" Target="/ppt/slideLayouts/slideLayout4.xml" Id="Rb5e583a8476b42e4" /><Relationship Type="http://schemas.openxmlformats.org/officeDocument/2006/relationships/slideLayout" Target="/ppt/slideLayouts/slideLayout5.xml" Id="Rc0f3a1f74e2d4900" /><Relationship Type="http://schemas.openxmlformats.org/officeDocument/2006/relationships/slideLayout" Target="/ppt/slideLayouts/slideLayout6.xml" Id="R10e90be5a23e4f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baccd7e9e34e2d"/>
    <p:sldLayoutId xmlns:r="http://schemas.openxmlformats.org/officeDocument/2006/relationships" id="2147483650" r:id="R88278dfbefcc4333"/>
    <p:sldLayoutId xmlns:r="http://schemas.openxmlformats.org/officeDocument/2006/relationships" id="2147483651" r:id="Rbdff0e5717ab4ffa"/>
    <p:sldLayoutId xmlns:r="http://schemas.openxmlformats.org/officeDocument/2006/relationships" id="2147483652" r:id="Rb5e583a8476b42e4"/>
    <p:sldLayoutId xmlns:r="http://schemas.openxmlformats.org/officeDocument/2006/relationships" id="2147483653" r:id="Rc0f3a1f74e2d4900"/>
    <p:sldLayoutId xmlns:r="http://schemas.openxmlformats.org/officeDocument/2006/relationships" id="2147483654" r:id="R10e90be5a23e4f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5427d61b4944ad" /><Relationship Type="http://schemas.openxmlformats.org/officeDocument/2006/relationships/image" Target="/ppt/media/image.jpeg" Id="R55cc6695dc0547ee" /><Relationship Type="http://schemas.openxmlformats.org/officeDocument/2006/relationships/notesSlide" Target="/ppt/notesSlides/notesSlide1.xml" Id="Ra09fef9aed8f4f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9f770fd2e04af7" /><Relationship Type="http://schemas.openxmlformats.org/officeDocument/2006/relationships/notesSlide" Target="/ppt/notesSlides/notesSlide2.xml" Id="Rbfecbd5b4db04d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36c420474a4c24" /><Relationship Type="http://schemas.openxmlformats.org/officeDocument/2006/relationships/notesSlide" Target="/ppt/notesSlides/notesSlide3.xml" Id="R0ea8667dde124c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d30eecbfa4985" /><Relationship Type="http://schemas.openxmlformats.org/officeDocument/2006/relationships/notesSlide" Target="/ppt/notesSlides/notesSlide4.xml" Id="Rab4b637fdb6549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376d6da8746e9" /><Relationship Type="http://schemas.openxmlformats.org/officeDocument/2006/relationships/image" Target="/ppt/media/image2.jpeg" Id="R8a9a8f4bc5c340fb" /><Relationship Type="http://schemas.openxmlformats.org/officeDocument/2006/relationships/notesSlide" Target="/ppt/notesSlides/notesSlide5.xml" Id="R2fe8ecf4d3204d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69EF7-7E36-43C2-8B3D-85D4E3D17D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c6695dc0547ee"/>
          <a:srcRect xmlns:a="http://schemas.openxmlformats.org/drawingml/2006/main" l="2222" t="0" r="2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2CC71-D3E9-4833-A59B-C4A19B5D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BC090-ACFC-44E6-A8BF-7D1CF05C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6CDBA-80FC-48C8-A714-45E14640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CSOPESY 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6FD6B-C3DC-404C-BE07-76B21C92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E7F6F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E7F6FA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E7F6FA"/>
                </a:solidFill>
                <a:latin typeface="Segoe UI"/>
                <a:ea typeface="Segoe UI"/>
                <a:cs typeface="Segoe UI"/>
              </a:rPr>
              <a:t>Desktop-Style OS Mockup with Dear ImGui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E004B-4F03-4BD4-A501-0E5BC3BC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A684C-09D3-4419-9D91-10A78DDD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30C8D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30C8D6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0C8D6"/>
                </a:solidFill>
                <a:latin typeface="Segoe UI"/>
                <a:ea typeface="Segoe UI"/>
                <a:cs typeface="Segoe UI"/>
              </a:rPr>
              <a:t>TECHNICAL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2A746-0215-42B9-A0D7-921025CC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Karl Matthew Dela Cruz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Jose Miguel Espinosa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Bon Windel Aquino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Dencel Angelo Pineda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C9167-4162-4B17-887A-A97FCD8E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9DBBD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9DBBD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9DBBD0"/>
                </a:solidFill>
                <a:latin typeface="Segoe UI"/>
                <a:ea typeface="Segoe UI"/>
                <a:cs typeface="Segoe UI"/>
              </a:rPr>
              <a:t>CSOPESY · October 2026</a:t>
            </a:r>
          </a:p>
        </p:txBody>
      </p:sp>
    </p:spTree>
    <p:extLst>
      <p:ext uri="{BB962C8B-B14F-4D97-AF65-F5344CB8AC3E}">
        <p14:creationId xmlns:p14="http://schemas.microsoft.com/office/powerpoint/2010/main" val="957836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84DD9-1BC1-4DFD-AA3A-01A2884E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9448800" cy="4248150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0D2540"/>
          </a:solidFill>
          <a:ln xmlns:a="http://schemas.openxmlformats.org/drawingml/2006/main" w="19050">
            <a:solidFill>
              <a:srgbClr val="2D90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8D66B-B5A2-445A-8264-91BF4545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0C8D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30C8D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30C8D6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D0314-2D4B-4FAC-862A-51F8827E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Video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B8159-A095-4ED4-BE74-342A2C9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FC6D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FC6D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FC6D8"/>
                </a:solidFill>
                <a:latin typeface="Segoe UI"/>
                <a:ea typeface="Segoe UI"/>
                <a:cs typeface="Segoe UI"/>
              </a:rPr>
              <a:t>Reserved for the final seamless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B93CD-668F-44FA-837D-28A33394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VIDEO PLACEHOLDER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2C25C-A4FE-4856-86BD-A1360000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5280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AFC6D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AFC6D8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FC6D8"/>
                </a:solidFill>
                <a:latin typeface="Segoe UI"/>
                <a:ea typeface="Segoe UI"/>
                <a:cs typeface="Segoe UI"/>
              </a:rPr>
              <a:t>Insert the final MP4 here</a:t>
            </a:r>
          </a:p>
          <a:p xmlns:a="http://schemas.openxmlformats.org/drawingml/2006/main">
            <a:pPr algn="ctr">
              <a:defRPr sz="1500" b="0">
                <a:solidFill>
                  <a:srgbClr val="AFC6D8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AFC6D8"/>
                </a:solidFill>
                <a:latin typeface="Segoe UI"/>
                <a:ea typeface="Segoe UI"/>
                <a:cs typeface="Segoe UI"/>
              </a:rPr>
              <a:t>480p–720p · one continuous take · Run/Debug through PWR shutdown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475D6-6C4A-4780-9428-DF81AF32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864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7FA7C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7FA7C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7FA7C0"/>
                </a:solidFill>
                <a:latin typeface="Segoe UI"/>
                <a:ea typeface="Segoe UI"/>
                <a:cs typeface="Segoe UI"/>
              </a:rPr>
              <a:t>Leave this slide in place until the final recording is ready.</a:t>
            </a:r>
          </a:p>
        </p:txBody>
      </p:sp>
    </p:spTree>
    <p:extLst>
      <p:ext uri="{BB962C8B-B14F-4D97-AF65-F5344CB8AC3E}">
        <p14:creationId xmlns:p14="http://schemas.microsoft.com/office/powerpoint/2010/main" val="927413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46238-EF41-4360-803E-B8314EEC7BA4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6096000" y="1866900"/>
            <a:ext cx="3095625" cy="1104900"/>
          </a:xfrm>
          <a:prstGeom xmlns:a="http://schemas.openxmlformats.org/drawingml/2006/main" prst="bentConnector4">
            <a:avLst>
              <a:gd name="adj1" fmla="val 7385"/>
              <a:gd name="adj2" fmla="val 79310"/>
            </a:avLst>
          </a:prstGeom>
          <a:ln xmlns:a="http://schemas.openxmlformats.org/drawingml/2006/main" w="19050">
            <a:solidFill>
              <a:srgbClr val="7C90A6"/>
            </a:solidFill>
            <a:prstDash val="dash"/>
            <a:tailEnd type="arrow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29843-5B98-4254-A1E0-DC535C1A194E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096250" y="4267200"/>
            <a:ext cx="1905000" cy="1238250"/>
          </a:xfrm>
          <a:prstGeom xmlns:a="http://schemas.openxmlformats.org/drawingml/2006/main" prst="bentConnector5">
            <a:avLst>
              <a:gd name="adj1" fmla="val 0"/>
              <a:gd name="adj2" fmla="val 18462"/>
              <a:gd name="adj3" fmla="val 88000"/>
            </a:avLst>
          </a:prstGeom>
          <a:ln xmlns:a="http://schemas.openxmlformats.org/drawingml/2006/main" w="28575">
            <a:solidFill>
              <a:srgbClr val="2D90D7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65B90-91A5-46E5-8A0A-18FA68F7BD8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43800" y="361950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90D7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039C0-6C1D-498F-A8CE-791BEEB48A6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38550" y="361950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D90D7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774E5-913A-41F2-9AD7-33B3FC999E6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190750" y="2152650"/>
            <a:ext cx="3905250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D90D7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88267-1BCC-4900-8CCB-A85EA960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D90D7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60A02-D803-4674-8387-F0E42000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"/>
            <a:ext cx="788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Compositor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73617-A413-454F-893E-4778A1A9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81050"/>
            <a:ext cx="941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C80"/>
                </a:solidFill>
                <a:latin typeface="Segoe UI"/>
                <a:ea typeface="Segoe UI"/>
                <a:cs typeface="Segoe UI"/>
              </a:rPr>
              <a:t>One immediate-mode frame rebuilds the desktop, windows, and foreground taskbar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8EEF9-B9FB-4630-8DA4-AA7364C4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5CBF4-0EE6-47E3-A587-49C79304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33500"/>
            <a:ext cx="4000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133350" rIns="171450" bIns="1333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GLFW + OpenGL Host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events, window, graphics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CCD7A-A0AE-4687-BD26-41595E50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3350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19050">
            <a:solidFill>
              <a:srgbClr val="2D90D7"/>
            </a:solidFill>
            <a:prstDash val="solid"/>
          </a:ln>
        </p:spPr>
        <p:txBody>
          <a:bodyPr xmlns:a="http://schemas.openxmlformats.org/drawingml/2006/main" lIns="171450" tIns="133350" rIns="171450" bIns="1333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OsState</a:t>
            </a:r>
          </a:p>
          <a:p xmlns:a="http://schemas.openxmlformats.org/drawingml/2006/main">
            <a: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boot phase</a:t>
            </a:r>
          </a:p>
          <a:p xmlns:a="http://schemas.openxmlformats.org/drawingml/2006/main">
            <a: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window flags</a:t>
            </a:r>
          </a:p>
          <a:p xmlns:a="http://schemas.openxmlformats.org/drawingml/2006/main">
            <a: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shutdown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65EB5-6889-42BF-8528-4EDF6608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8956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F456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133350" rIns="171450" bIns="1333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  Desktop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wallpaper, clock, PWR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DB6F1-1CB4-4FE6-9199-BA9A6785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28956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767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133350" rIns="171450" bIns="1333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  Application Windows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Files, Settings, Task Manager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C2DB9-4A46-4C30-9B73-040BEAC4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71800"/>
            <a:ext cx="28956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E7FA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71450" tIns="133350" rIns="171450" bIns="1333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  Taskbar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fixed foreground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B0D21-859D-4ACC-9CF3-859912D7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67300"/>
            <a:ext cx="4000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DD0E2"/>
            </a:solidFill>
            <a:prstDash val="solid"/>
          </a:ln>
        </p:spPr>
        <p:txBody>
          <a:bodyPr xmlns:a="http://schemas.openxmlformats.org/drawingml/2006/main" lIns="171450" tIns="133350" rIns="171450" bIns="13335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Dear ImGui Draw Data</a:t>
            </a:r>
          </a:p>
          <a:p xmlns:a="http://schemas.openxmlformats.org/drawingml/2006/main">
            <a: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OpenGL renderer presents the completed frame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12ED6-B684-4BD9-B406-A43E622D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D6C80"/>
                </a:solidFill>
                <a:latin typeface="Segoe UI"/>
                <a:ea typeface="Segoe UI"/>
                <a:cs typeface="Segoe UI"/>
              </a:rPr>
              <a:t>Source: src/main.cpp and src/OsState.h</a:t>
            </a:r>
          </a:p>
        </p:txBody>
      </p:sp>
    </p:spTree>
    <p:extLst>
      <p:ext uri="{BB962C8B-B14F-4D97-AF65-F5344CB8AC3E}">
        <p14:creationId xmlns:p14="http://schemas.microsoft.com/office/powerpoint/2010/main" val="512461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02EE9-A70F-4F38-A49C-E2950A56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D90D7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04033-E67A-48D4-8E0A-F0B30973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"/>
            <a:ext cx="788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Implementation Code Snippets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B5BC6-FE88-4282-B603-8BB5E2DE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81050"/>
            <a:ext cx="941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C80"/>
                </a:solidFill>
                <a:latin typeface="Segoe UI"/>
                <a:ea typeface="Segoe UI"/>
                <a:cs typeface="Segoe UI"/>
              </a:rPr>
              <a:t>The frame loop controls layer order, while PWR owns the shutdown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74256-8740-4B35-9429-21585EA3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4C511-920C-47D0-83F0-C692787E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01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89694-E97A-4C93-BCAC-572DD20E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14500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8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D7B57-B4D2-4E31-8E49-6A946DB7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30C8D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30C8D6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30C8D6"/>
                </a:solidFill>
                <a:latin typeface="Consolas"/>
                <a:ea typeface="Consolas"/>
                <a:cs typeface="Consolas"/>
              </a:rPr>
              <a:t>src/main.cpp · compositor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D4CE7-E36F-475B-BF44-020DBD19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4857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while (!state.shutdownRequested) {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glfwPollEvents();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if (glfwWindowShouldClose(window)) {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glfwSetWindowShouldClose(window, GLFW_FALSE);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Desktop::Render(state);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if (state.showFileExplorer)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FileExplorer::Render(state);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if (state.showSettings)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Settings::Render(state);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if (state.showTaskManager)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TaskManager::Render(state);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Taskbar::Render(state);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7BAA9-E361-41D8-82A6-200333E8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43D9A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3D9A3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43D9A3"/>
                </a:solidFill>
                <a:latin typeface="Segoe UI"/>
                <a:ea typeface="Segoe UI"/>
                <a:cs typeface="Segoe UI"/>
              </a:rPr>
              <a:t>Desktop first, app windows second, taskbar last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28D29-28D5-45DC-B442-95EC5D0E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81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FFC85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C85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FC857"/>
                </a:solidFill>
                <a:latin typeface="Consolas"/>
                <a:ea typeface="Consolas"/>
                <a:cs typeface="Consolas"/>
              </a:rPr>
              <a:t>src/Desktop.cpp · controlled shutdown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ADF81-7406-438B-9A7F-798CE16B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81200"/>
            <a:ext cx="43815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if (ImGui::Button("PWR", btnSize)) {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ImGui::OpenPopup("Shut Down?");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if (ImGui::Button("Shut Down",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          ImVec2(120, 0))) {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state.shutdownRequested = true;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ImGui::CloseCurrentPopup();</a:t>
            </a:r>
          </a:p>
          <a:p xmlns:a="http://schemas.openxmlformats.org/drawingml/2006/main"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682A6-020D-4DB3-B509-08BAE57B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29150"/>
            <a:ext cx="428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9DBBD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DBBD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DBBD0"/>
                </a:solidFill>
                <a:latin typeface="Segoe UI"/>
                <a:ea typeface="Segoe UI"/>
                <a:cs typeface="Segoe UI"/>
              </a:rPr>
              <a:t>The native title-bar close request is cleared in the frame loop. Only the confirmed PWR action sets shutdownRequested.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0A965-97F6-4181-817C-0A937AEE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6E809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6E8094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E8094"/>
                </a:solidFill>
                <a:latin typeface="Segoe UI"/>
                <a:ea typeface="Segoe UI"/>
                <a:cs typeface="Segoe UI"/>
              </a:rPr>
              <a:t>Selected implementation excerpts</a:t>
            </a:r>
          </a:p>
        </p:txBody>
      </p:sp>
    </p:spTree>
    <p:extLst>
      <p:ext uri="{BB962C8B-B14F-4D97-AF65-F5344CB8AC3E}">
        <p14:creationId xmlns:p14="http://schemas.microsoft.com/office/powerpoint/2010/main" val="735773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8F7FC-6C05-4A95-991C-EE6D32D9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D90D7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3BFA3-2100-4A57-B668-F638D8C0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"/>
            <a:ext cx="7886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Desktop Design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50A78-0AA1-41FE-8246-0E642F8D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81050"/>
            <a:ext cx="941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C80"/>
                </a:solidFill>
                <a:latin typeface="Segoe UI"/>
                <a:ea typeface="Segoe UI"/>
                <a:cs typeface="Segoe UI"/>
              </a:rPr>
              <a:t>A small shared state and explicit frame order keep the shell predictable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BA4FC-514E-4976-8B9A-2E842E88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9934B-CD75-4A33-812A-9FF8651A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Design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108D5-54DB-48E5-92C2-4080E111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476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425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The desktop fills the viewport and draws a gradient wallpaper, soft patterns, the live clock, and PWR control every frame.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425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OsState stores the boot phase, open-window flags, and shutdown request so every screen reads the same state.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425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The taskbar toggles File Explorer, Settings, and Task Manager while active indicators show which windows are open.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425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Task Manager uses a sortable Dear ImGui table with dummy process, CPU, and memory values.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425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The compositor draws the desktop first, application windows next, and the taskbar last. A confirmed PWR action ends the loop.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9F513-09D5-4D6B-950F-3BB7C34C9D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a8f4bc5c340fb"/>
          <a:srcRect xmlns:a="http://schemas.openxmlformats.org/drawingml/2006/main" l="8" t="0" r="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1428750"/>
            <a:ext cx="5829300" cy="31337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9887C-DDC0-4995-9E7C-E78E70F4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28750"/>
            <a:ext cx="5829300" cy="3133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DD0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871BE-E9C4-4CB0-8D45-013973FF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19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D90D7"/>
                </a:solidFill>
                <a:latin typeface="Segoe UI"/>
                <a:ea typeface="Segoe UI"/>
                <a:cs typeface="Segoe UI"/>
              </a:rPr>
              <a:t>Runtime composition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A2361-F8AD-482A-8D0C-CE243D82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62550"/>
            <a:ext cx="5829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C80"/>
                </a:solidFill>
                <a:latin typeface="Segoe UI"/>
                <a:ea typeface="Segoe UI"/>
                <a:cs typeface="Segoe UI"/>
              </a:rPr>
              <a:t>The screenshot shows independent ImGui windows layered over the desktop while the fixed taskbar stays in the foreground.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6A3A9-A025-40FE-B09D-207402AF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D6C80"/>
                </a:solidFill>
                <a:latin typeface="Segoe UI"/>
                <a:ea typeface="Segoe UI"/>
                <a:cs typeface="Segoe UI"/>
              </a:rPr>
              <a:t>Runtime view captured from build/csopesy_os.exe</a:t>
            </a:r>
          </a:p>
        </p:txBody>
      </p:sp>
    </p:spTree>
    <p:extLst>
      <p:ext uri="{BB962C8B-B14F-4D97-AF65-F5344CB8AC3E}">
        <p14:creationId xmlns:p14="http://schemas.microsoft.com/office/powerpoint/2010/main" val="19346594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2026-10-12T03:02:24.5610000Z</dcterms:created>
  <dcterms:modified xsi:type="dcterms:W3CDTF">2026-10-12T03:02:24.5610000Z</dcterms:modified>
</coreProperties>
</file>